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Lato"/>
      <p:regular r:id="rId17"/>
    </p:embeddedFont>
    <p:embeddedFont>
      <p:font typeface="Lato"/>
      <p:regular r:id="rId18"/>
    </p:embeddedFont>
    <p:embeddedFont>
      <p:font typeface="Lato"/>
      <p:regular r:id="rId19"/>
    </p:embeddedFont>
    <p:embeddedFont>
      <p:font typeface="Lato"/>
      <p:regular r:id="rId20"/>
    </p:embeddedFont>
    <p:embeddedFont>
      <p:font typeface="Lato"/>
      <p:regular r:id="rId21"/>
    </p:embeddedFont>
    <p:embeddedFont>
      <p:font typeface="Lato"/>
      <p:regular r:id="rId22"/>
    </p:embeddedFont>
    <p:embeddedFont>
      <p:font typeface="Lato"/>
      <p:regular r:id="rId23"/>
    </p:embeddedFont>
    <p:embeddedFont>
      <p:font typeface="La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i-contract-risk-highlighter.vercel.app/"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4.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i-contract-risk-highlighter.vercel.app/" TargetMode="External"/><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554599"/>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LexScan — AI Contract Risk Highlighter</a:t>
            </a:r>
            <a:endParaRPr lang="en-US" sz="4450" dirty="0"/>
          </a:p>
        </p:txBody>
      </p:sp>
      <p:sp>
        <p:nvSpPr>
          <p:cNvPr id="4" name="Text 1"/>
          <p:cNvSpPr/>
          <p:nvPr/>
        </p:nvSpPr>
        <p:spPr>
          <a:xfrm>
            <a:off x="793790" y="331231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A Full-Stack Legal-Tech SaaS Application</a:t>
            </a:r>
            <a:endParaRPr lang="en-US" sz="1750" dirty="0"/>
          </a:p>
        </p:txBody>
      </p:sp>
      <p:sp>
        <p:nvSpPr>
          <p:cNvPr id="5" name="Text 2"/>
          <p:cNvSpPr/>
          <p:nvPr/>
        </p:nvSpPr>
        <p:spPr>
          <a:xfrm>
            <a:off x="793790" y="4015383"/>
            <a:ext cx="7556421" cy="1956435"/>
          </a:xfrm>
          <a:prstGeom prst="rect">
            <a:avLst/>
          </a:prstGeom>
          <a:noFill/>
          <a:ln/>
        </p:spPr>
        <p:txBody>
          <a:bodyPr wrap="square" lIns="0" tIns="0" rIns="0" bIns="0" rtlCol="0" anchor="t"/>
          <a:lstStyle/>
          <a:p>
            <a:pPr algn="l" indent="0" marL="0">
              <a:lnSpc>
                <a:spcPts val="7700"/>
              </a:lnSpc>
              <a:buNone/>
            </a:pPr>
            <a:r>
              <a:rPr lang="en-US" sz="6150" b="1" dirty="0">
                <a:solidFill>
                  <a:srgbClr val="282824"/>
                </a:solidFill>
                <a:latin typeface="Lato Bold" pitchFamily="34" charset="0"/>
                <a:ea typeface="Lato Bold" pitchFamily="34" charset="-122"/>
                <a:cs typeface="Lato Bold" pitchFamily="34" charset="-120"/>
              </a:rPr>
              <a:t>"Spot Hidden Risks Before You Sign"</a:t>
            </a:r>
            <a:endParaRPr lang="en-US" sz="6150" dirty="0"/>
          </a:p>
        </p:txBody>
      </p:sp>
      <p:sp>
        <p:nvSpPr>
          <p:cNvPr id="6" name="Text 3"/>
          <p:cNvSpPr/>
          <p:nvPr/>
        </p:nvSpPr>
        <p:spPr>
          <a:xfrm>
            <a:off x="793790" y="631197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Live at: </a:t>
            </a:r>
            <a:pPr algn="l" indent="0" marL="0">
              <a:lnSpc>
                <a:spcPts val="2850"/>
              </a:lnSpc>
              <a:buNone/>
            </a:pPr>
            <a:r>
              <a:rPr lang="en-US" sz="1750" u="sng" dirty="0">
                <a:solidFill>
                  <a:srgbClr val="282824"/>
                </a:solidFill>
                <a:latin typeface="Lato" pitchFamily="34" charset="0"/>
                <a:ea typeface="Lato" pitchFamily="34" charset="-122"/>
                <a:cs typeface="La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https://ai-contract-risk-highlighter.vercel.app</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29576" y="1031796"/>
            <a:ext cx="4594384" cy="574238"/>
          </a:xfrm>
          <a:prstGeom prst="rect">
            <a:avLst/>
          </a:prstGeom>
          <a:noFill/>
          <a:ln/>
        </p:spPr>
        <p:txBody>
          <a:bodyPr wrap="none" lIns="0" tIns="0" rIns="0" bIns="0" rtlCol="0" anchor="t"/>
          <a:lstStyle/>
          <a:p>
            <a:pPr algn="l" indent="0" marL="0">
              <a:lnSpc>
                <a:spcPts val="4500"/>
              </a:lnSpc>
              <a:buNone/>
            </a:pPr>
            <a:r>
              <a:rPr lang="en-US" sz="3600" b="1" dirty="0">
                <a:solidFill>
                  <a:srgbClr val="282824"/>
                </a:solidFill>
                <a:latin typeface="Lato Bold" pitchFamily="34" charset="0"/>
                <a:ea typeface="Lato Bold" pitchFamily="34" charset="-122"/>
                <a:cs typeface="Lato Bold" pitchFamily="34" charset="-120"/>
              </a:rPr>
              <a:t>The Problem</a:t>
            </a:r>
            <a:endParaRPr lang="en-US" sz="3600" dirty="0"/>
          </a:p>
        </p:txBody>
      </p:sp>
      <p:sp>
        <p:nvSpPr>
          <p:cNvPr id="4" name="Text 1"/>
          <p:cNvSpPr/>
          <p:nvPr/>
        </p:nvSpPr>
        <p:spPr>
          <a:xfrm>
            <a:off x="6129576" y="1829276"/>
            <a:ext cx="7857649" cy="266105"/>
          </a:xfrm>
          <a:prstGeom prst="rect">
            <a:avLst/>
          </a:prstGeom>
          <a:noFill/>
          <a:ln/>
        </p:spPr>
        <p:txBody>
          <a:bodyPr wrap="none" lIns="0" tIns="0" rIns="0" bIns="0" rtlCol="0" anchor="t"/>
          <a:lstStyle/>
          <a:p>
            <a:pPr algn="l" indent="0" marL="0">
              <a:lnSpc>
                <a:spcPts val="2050"/>
              </a:lnSpc>
              <a:buNone/>
            </a:pPr>
            <a:r>
              <a:rPr lang="en-US" sz="1400" dirty="0">
                <a:solidFill>
                  <a:srgbClr val="4A4A45"/>
                </a:solidFill>
                <a:latin typeface="Lato" pitchFamily="34" charset="0"/>
                <a:ea typeface="Lato" pitchFamily="34" charset="-122"/>
                <a:cs typeface="Lato" pitchFamily="34" charset="-120"/>
              </a:rPr>
              <a:t>Most people sign contracts they don't understand.</a:t>
            </a:r>
            <a:endParaRPr lang="en-US" sz="1400" dirty="0"/>
          </a:p>
        </p:txBody>
      </p:sp>
      <p:sp>
        <p:nvSpPr>
          <p:cNvPr id="5" name="Shape 2"/>
          <p:cNvSpPr/>
          <p:nvPr/>
        </p:nvSpPr>
        <p:spPr>
          <a:xfrm>
            <a:off x="6129576" y="2262783"/>
            <a:ext cx="7857649" cy="1321713"/>
          </a:xfrm>
          <a:prstGeom prst="roundRect">
            <a:avLst>
              <a:gd name="adj" fmla="val 8302"/>
            </a:avLst>
          </a:prstGeom>
          <a:solidFill>
            <a:srgbClr val="EFECE6"/>
          </a:solidFill>
          <a:ln w="22860">
            <a:solidFill>
              <a:srgbClr val="CBC5B8"/>
            </a:solidFill>
            <a:prstDash val="solid"/>
          </a:ln>
        </p:spPr>
      </p:sp>
      <p:sp>
        <p:nvSpPr>
          <p:cNvPr id="6" name="Shape 3"/>
          <p:cNvSpPr/>
          <p:nvPr/>
        </p:nvSpPr>
        <p:spPr>
          <a:xfrm>
            <a:off x="6106716" y="2262783"/>
            <a:ext cx="91440" cy="1321713"/>
          </a:xfrm>
          <a:prstGeom prst="roundRect">
            <a:avLst>
              <a:gd name="adj" fmla="val 30147"/>
            </a:avLst>
          </a:prstGeom>
          <a:solidFill>
            <a:srgbClr val="282824"/>
          </a:solidFill>
          <a:ln/>
        </p:spPr>
      </p:sp>
      <p:sp>
        <p:nvSpPr>
          <p:cNvPr id="7" name="Text 4"/>
          <p:cNvSpPr/>
          <p:nvPr/>
        </p:nvSpPr>
        <p:spPr>
          <a:xfrm>
            <a:off x="6404729" y="2469356"/>
            <a:ext cx="2748320" cy="287060"/>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Hidden Dangerous Clauses</a:t>
            </a:r>
            <a:endParaRPr lang="en-US" sz="1800" dirty="0"/>
          </a:p>
        </p:txBody>
      </p:sp>
      <p:sp>
        <p:nvSpPr>
          <p:cNvPr id="8" name="Text 5"/>
          <p:cNvSpPr/>
          <p:nvPr/>
        </p:nvSpPr>
        <p:spPr>
          <a:xfrm>
            <a:off x="6404729" y="2845713"/>
            <a:ext cx="7375922" cy="532209"/>
          </a:xfrm>
          <a:prstGeom prst="rect">
            <a:avLst/>
          </a:prstGeom>
          <a:noFill/>
          <a:ln/>
        </p:spPr>
        <p:txBody>
          <a:bodyPr wrap="square" lIns="0" tIns="0" rIns="0" bIns="0" rtlCol="0" anchor="t"/>
          <a:lstStyle/>
          <a:p>
            <a:pPr algn="l" indent="0" marL="0">
              <a:lnSpc>
                <a:spcPts val="2050"/>
              </a:lnSpc>
              <a:buNone/>
            </a:pPr>
            <a:r>
              <a:rPr lang="en-US" sz="1400" dirty="0">
                <a:solidFill>
                  <a:srgbClr val="4A4A45"/>
                </a:solidFill>
                <a:latin typeface="Lato" pitchFamily="34" charset="0"/>
                <a:ea typeface="Lato" pitchFamily="34" charset="-122"/>
                <a:cs typeface="Lato" pitchFamily="34" charset="-120"/>
              </a:rPr>
              <a:t>Contracts contain dangerous clauses buried in legal language: IP forfeiture, unlimited liability, 90-day payment delays, termination without notice</a:t>
            </a:r>
            <a:endParaRPr lang="en-US" sz="1400" dirty="0"/>
          </a:p>
        </p:txBody>
      </p:sp>
      <p:sp>
        <p:nvSpPr>
          <p:cNvPr id="9" name="Shape 6"/>
          <p:cNvSpPr/>
          <p:nvPr/>
        </p:nvSpPr>
        <p:spPr>
          <a:xfrm>
            <a:off x="6129576" y="3733324"/>
            <a:ext cx="7857649" cy="1055608"/>
          </a:xfrm>
          <a:prstGeom prst="roundRect">
            <a:avLst>
              <a:gd name="adj" fmla="val 10395"/>
            </a:avLst>
          </a:prstGeom>
          <a:solidFill>
            <a:srgbClr val="EFECE6"/>
          </a:solidFill>
          <a:ln w="22860">
            <a:solidFill>
              <a:srgbClr val="CBC5B8"/>
            </a:solidFill>
            <a:prstDash val="solid"/>
          </a:ln>
        </p:spPr>
      </p:sp>
      <p:sp>
        <p:nvSpPr>
          <p:cNvPr id="10" name="Shape 7"/>
          <p:cNvSpPr/>
          <p:nvPr/>
        </p:nvSpPr>
        <p:spPr>
          <a:xfrm>
            <a:off x="6106716" y="3733324"/>
            <a:ext cx="91440" cy="1055608"/>
          </a:xfrm>
          <a:prstGeom prst="roundRect">
            <a:avLst>
              <a:gd name="adj" fmla="val 30147"/>
            </a:avLst>
          </a:prstGeom>
          <a:solidFill>
            <a:srgbClr val="282824"/>
          </a:solidFill>
          <a:ln/>
        </p:spPr>
      </p:sp>
      <p:sp>
        <p:nvSpPr>
          <p:cNvPr id="11" name="Text 8"/>
          <p:cNvSpPr/>
          <p:nvPr/>
        </p:nvSpPr>
        <p:spPr>
          <a:xfrm>
            <a:off x="6404729" y="3939897"/>
            <a:ext cx="2754868" cy="287060"/>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Unaffordable Legal Review</a:t>
            </a:r>
            <a:endParaRPr lang="en-US" sz="1800" dirty="0"/>
          </a:p>
        </p:txBody>
      </p:sp>
      <p:sp>
        <p:nvSpPr>
          <p:cNvPr id="12" name="Text 9"/>
          <p:cNvSpPr/>
          <p:nvPr/>
        </p:nvSpPr>
        <p:spPr>
          <a:xfrm>
            <a:off x="6404729" y="4316254"/>
            <a:ext cx="7375922" cy="266105"/>
          </a:xfrm>
          <a:prstGeom prst="rect">
            <a:avLst/>
          </a:prstGeom>
          <a:noFill/>
          <a:ln/>
        </p:spPr>
        <p:txBody>
          <a:bodyPr wrap="none" lIns="0" tIns="0" rIns="0" bIns="0" rtlCol="0" anchor="t"/>
          <a:lstStyle/>
          <a:p>
            <a:pPr algn="l" indent="0" marL="0">
              <a:lnSpc>
                <a:spcPts val="2050"/>
              </a:lnSpc>
              <a:buNone/>
            </a:pPr>
            <a:r>
              <a:rPr lang="en-US" sz="1400" dirty="0">
                <a:solidFill>
                  <a:srgbClr val="4A4A45"/>
                </a:solidFill>
                <a:latin typeface="Lato" pitchFamily="34" charset="0"/>
                <a:ea typeface="Lato" pitchFamily="34" charset="-122"/>
                <a:cs typeface="Lato" pitchFamily="34" charset="-120"/>
              </a:rPr>
              <a:t>Hiring a lawyer for routine review costs $300–$500/hour — unaffordable for most</a:t>
            </a:r>
            <a:endParaRPr lang="en-US" sz="1400" dirty="0"/>
          </a:p>
        </p:txBody>
      </p:sp>
      <p:sp>
        <p:nvSpPr>
          <p:cNvPr id="13" name="Shape 10"/>
          <p:cNvSpPr/>
          <p:nvPr/>
        </p:nvSpPr>
        <p:spPr>
          <a:xfrm>
            <a:off x="6129576" y="4937760"/>
            <a:ext cx="7857649" cy="1055608"/>
          </a:xfrm>
          <a:prstGeom prst="roundRect">
            <a:avLst>
              <a:gd name="adj" fmla="val 10395"/>
            </a:avLst>
          </a:prstGeom>
          <a:solidFill>
            <a:srgbClr val="EFECE6"/>
          </a:solidFill>
          <a:ln w="22860">
            <a:solidFill>
              <a:srgbClr val="CBC5B8"/>
            </a:solidFill>
            <a:prstDash val="solid"/>
          </a:ln>
        </p:spPr>
      </p:sp>
      <p:sp>
        <p:nvSpPr>
          <p:cNvPr id="14" name="Shape 11"/>
          <p:cNvSpPr/>
          <p:nvPr/>
        </p:nvSpPr>
        <p:spPr>
          <a:xfrm>
            <a:off x="6106716" y="4937760"/>
            <a:ext cx="91440" cy="1055608"/>
          </a:xfrm>
          <a:prstGeom prst="roundRect">
            <a:avLst>
              <a:gd name="adj" fmla="val 30147"/>
            </a:avLst>
          </a:prstGeom>
          <a:solidFill>
            <a:srgbClr val="282824"/>
          </a:solidFill>
          <a:ln/>
        </p:spPr>
      </p:sp>
      <p:sp>
        <p:nvSpPr>
          <p:cNvPr id="15" name="Text 12"/>
          <p:cNvSpPr/>
          <p:nvPr/>
        </p:nvSpPr>
        <p:spPr>
          <a:xfrm>
            <a:off x="6404729" y="5144333"/>
            <a:ext cx="2297192" cy="287060"/>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No Accessible Tool</a:t>
            </a:r>
            <a:endParaRPr lang="en-US" sz="1800" dirty="0"/>
          </a:p>
        </p:txBody>
      </p:sp>
      <p:sp>
        <p:nvSpPr>
          <p:cNvPr id="16" name="Text 13"/>
          <p:cNvSpPr/>
          <p:nvPr/>
        </p:nvSpPr>
        <p:spPr>
          <a:xfrm>
            <a:off x="6404729" y="5520690"/>
            <a:ext cx="7375922" cy="266105"/>
          </a:xfrm>
          <a:prstGeom prst="rect">
            <a:avLst/>
          </a:prstGeom>
          <a:noFill/>
          <a:ln/>
        </p:spPr>
        <p:txBody>
          <a:bodyPr wrap="none" lIns="0" tIns="0" rIns="0" bIns="0" rtlCol="0" anchor="t"/>
          <a:lstStyle/>
          <a:p>
            <a:pPr algn="l" indent="0" marL="0">
              <a:lnSpc>
                <a:spcPts val="2050"/>
              </a:lnSpc>
              <a:buNone/>
            </a:pPr>
            <a:r>
              <a:rPr lang="en-US" sz="1400" dirty="0">
                <a:solidFill>
                  <a:srgbClr val="4A4A45"/>
                </a:solidFill>
                <a:latin typeface="Lato" pitchFamily="34" charset="0"/>
                <a:ea typeface="Lato" pitchFamily="34" charset="-122"/>
                <a:cs typeface="Lato" pitchFamily="34" charset="-120"/>
              </a:rPr>
              <a:t>No accessible tool exists for quick, intelligent contract review</a:t>
            </a:r>
            <a:endParaRPr lang="en-US" sz="1400" dirty="0"/>
          </a:p>
        </p:txBody>
      </p:sp>
      <p:sp>
        <p:nvSpPr>
          <p:cNvPr id="17" name="Shape 14"/>
          <p:cNvSpPr/>
          <p:nvPr/>
        </p:nvSpPr>
        <p:spPr>
          <a:xfrm>
            <a:off x="6129576" y="6142196"/>
            <a:ext cx="7857649" cy="1055608"/>
          </a:xfrm>
          <a:prstGeom prst="roundRect">
            <a:avLst>
              <a:gd name="adj" fmla="val 10395"/>
            </a:avLst>
          </a:prstGeom>
          <a:solidFill>
            <a:srgbClr val="EFECE6"/>
          </a:solidFill>
          <a:ln w="22860">
            <a:solidFill>
              <a:srgbClr val="CBC5B8"/>
            </a:solidFill>
            <a:prstDash val="solid"/>
          </a:ln>
        </p:spPr>
      </p:sp>
      <p:sp>
        <p:nvSpPr>
          <p:cNvPr id="18" name="Shape 15"/>
          <p:cNvSpPr/>
          <p:nvPr/>
        </p:nvSpPr>
        <p:spPr>
          <a:xfrm>
            <a:off x="6106716" y="6142196"/>
            <a:ext cx="91440" cy="1055608"/>
          </a:xfrm>
          <a:prstGeom prst="roundRect">
            <a:avLst>
              <a:gd name="adj" fmla="val 30147"/>
            </a:avLst>
          </a:prstGeom>
          <a:solidFill>
            <a:srgbClr val="282824"/>
          </a:solidFill>
          <a:ln/>
        </p:spPr>
      </p:sp>
      <p:sp>
        <p:nvSpPr>
          <p:cNvPr id="19" name="Text 16"/>
          <p:cNvSpPr/>
          <p:nvPr/>
        </p:nvSpPr>
        <p:spPr>
          <a:xfrm>
            <a:off x="6404729" y="6348770"/>
            <a:ext cx="2297192" cy="287060"/>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The Result</a:t>
            </a:r>
            <a:endParaRPr lang="en-US" sz="1800" dirty="0"/>
          </a:p>
        </p:txBody>
      </p:sp>
      <p:sp>
        <p:nvSpPr>
          <p:cNvPr id="20" name="Text 17"/>
          <p:cNvSpPr/>
          <p:nvPr/>
        </p:nvSpPr>
        <p:spPr>
          <a:xfrm>
            <a:off x="6404729" y="6725126"/>
            <a:ext cx="7375922" cy="266105"/>
          </a:xfrm>
          <a:prstGeom prst="rect">
            <a:avLst/>
          </a:prstGeom>
          <a:noFill/>
          <a:ln/>
        </p:spPr>
        <p:txBody>
          <a:bodyPr wrap="none" lIns="0" tIns="0" rIns="0" bIns="0" rtlCol="0" anchor="t"/>
          <a:lstStyle/>
          <a:p>
            <a:pPr algn="l" indent="0" marL="0">
              <a:lnSpc>
                <a:spcPts val="2050"/>
              </a:lnSpc>
              <a:buNone/>
            </a:pPr>
            <a:r>
              <a:rPr lang="en-US" sz="1400" dirty="0">
                <a:solidFill>
                  <a:srgbClr val="4A4A45"/>
                </a:solidFill>
                <a:latin typeface="Lato" pitchFamily="34" charset="0"/>
                <a:ea typeface="Lato" pitchFamily="34" charset="-122"/>
                <a:cs typeface="Lato" pitchFamily="34" charset="-120"/>
              </a:rPr>
              <a:t>Financial loss, legal disputes, unfair obligations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74100"/>
            <a:ext cx="6001464"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Our Solution — LexScan</a:t>
            </a:r>
            <a:endParaRPr lang="en-US" sz="4450" dirty="0"/>
          </a:p>
        </p:txBody>
      </p:sp>
      <p:sp>
        <p:nvSpPr>
          <p:cNvPr id="3" name="Text 1"/>
          <p:cNvSpPr/>
          <p:nvPr/>
        </p:nvSpPr>
        <p:spPr>
          <a:xfrm>
            <a:off x="793790" y="253650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An AI legal assistant that reads contracts for you.</a:t>
            </a:r>
            <a:endParaRPr lang="en-US" sz="17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154561"/>
            <a:ext cx="453628" cy="453628"/>
          </a:xfrm>
          <a:prstGeom prst="rect">
            <a:avLst/>
          </a:prstGeom>
        </p:spPr>
      </p:pic>
      <p:sp>
        <p:nvSpPr>
          <p:cNvPr id="5" name="Text 2"/>
          <p:cNvSpPr/>
          <p:nvPr/>
        </p:nvSpPr>
        <p:spPr>
          <a:xfrm>
            <a:off x="1530906" y="323242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Upload Any Contract</a:t>
            </a:r>
            <a:endParaRPr lang="en-US" sz="2200" dirty="0"/>
          </a:p>
        </p:txBody>
      </p:sp>
      <p:sp>
        <p:nvSpPr>
          <p:cNvPr id="6" name="Text 3"/>
          <p:cNvSpPr/>
          <p:nvPr/>
        </p:nvSpPr>
        <p:spPr>
          <a:xfrm>
            <a:off x="1530906" y="3722846"/>
            <a:ext cx="564249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PDF, DOCX, TXT, or scanned image</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3154561"/>
            <a:ext cx="453628" cy="453628"/>
          </a:xfrm>
          <a:prstGeom prst="rect">
            <a:avLst/>
          </a:prstGeom>
        </p:spPr>
      </p:pic>
      <p:sp>
        <p:nvSpPr>
          <p:cNvPr id="8" name="Text 4"/>
          <p:cNvSpPr/>
          <p:nvPr/>
        </p:nvSpPr>
        <p:spPr>
          <a:xfrm>
            <a:off x="8194000" y="3232428"/>
            <a:ext cx="2962513"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Instant AI Risk Analysis</a:t>
            </a:r>
            <a:endParaRPr lang="en-US" sz="2200" dirty="0"/>
          </a:p>
        </p:txBody>
      </p:sp>
      <p:sp>
        <p:nvSpPr>
          <p:cNvPr id="9" name="Text 5"/>
          <p:cNvSpPr/>
          <p:nvPr/>
        </p:nvSpPr>
        <p:spPr>
          <a:xfrm>
            <a:off x="8194000" y="3722846"/>
            <a:ext cx="5642610"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Get instant AI risk analysis in under 15 seconds</a:t>
            </a:r>
            <a:endParaRPr lang="en-US" sz="17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539377"/>
            <a:ext cx="453628" cy="453628"/>
          </a:xfrm>
          <a:prstGeom prst="rect">
            <a:avLst/>
          </a:prstGeom>
        </p:spPr>
      </p:pic>
      <p:sp>
        <p:nvSpPr>
          <p:cNvPr id="11" name="Text 6"/>
          <p:cNvSpPr/>
          <p:nvPr/>
        </p:nvSpPr>
        <p:spPr>
          <a:xfrm>
            <a:off x="1530906" y="4617244"/>
            <a:ext cx="3261241"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Highlighted Risky Clauses</a:t>
            </a:r>
            <a:endParaRPr lang="en-US" sz="2200" dirty="0"/>
          </a:p>
        </p:txBody>
      </p:sp>
      <p:sp>
        <p:nvSpPr>
          <p:cNvPr id="12" name="Text 7"/>
          <p:cNvSpPr/>
          <p:nvPr/>
        </p:nvSpPr>
        <p:spPr>
          <a:xfrm>
            <a:off x="1530906" y="5107662"/>
            <a:ext cx="564249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See risky clauses highlighted directly in the contract text</a:t>
            </a:r>
            <a:endParaRPr lang="en-US" sz="17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4539377"/>
            <a:ext cx="453628" cy="453628"/>
          </a:xfrm>
          <a:prstGeom prst="rect">
            <a:avLst/>
          </a:prstGeom>
        </p:spPr>
      </p:pic>
      <p:sp>
        <p:nvSpPr>
          <p:cNvPr id="14" name="Text 8"/>
          <p:cNvSpPr/>
          <p:nvPr/>
        </p:nvSpPr>
        <p:spPr>
          <a:xfrm>
            <a:off x="8194000" y="4617244"/>
            <a:ext cx="3347680"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Plain-English Explanations</a:t>
            </a:r>
            <a:endParaRPr lang="en-US" sz="2200" dirty="0"/>
          </a:p>
        </p:txBody>
      </p:sp>
      <p:sp>
        <p:nvSpPr>
          <p:cNvPr id="15" name="Text 9"/>
          <p:cNvSpPr/>
          <p:nvPr/>
        </p:nvSpPr>
        <p:spPr>
          <a:xfrm>
            <a:off x="8194000" y="5107662"/>
            <a:ext cx="5642610"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Receive plain-English explanations + suggested fixes</a:t>
            </a:r>
            <a:endParaRPr lang="en-US" sz="17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790" y="5924193"/>
            <a:ext cx="453628" cy="453628"/>
          </a:xfrm>
          <a:prstGeom prst="rect">
            <a:avLst/>
          </a:prstGeom>
        </p:spPr>
      </p:pic>
      <p:sp>
        <p:nvSpPr>
          <p:cNvPr id="17" name="Text 10"/>
          <p:cNvSpPr/>
          <p:nvPr/>
        </p:nvSpPr>
        <p:spPr>
          <a:xfrm>
            <a:off x="1530906" y="6002060"/>
            <a:ext cx="2912507"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Natural Language Q&amp;A</a:t>
            </a:r>
            <a:endParaRPr lang="en-US" sz="2200" dirty="0"/>
          </a:p>
        </p:txBody>
      </p:sp>
      <p:sp>
        <p:nvSpPr>
          <p:cNvPr id="18" name="Text 11"/>
          <p:cNvSpPr/>
          <p:nvPr/>
        </p:nvSpPr>
        <p:spPr>
          <a:xfrm>
            <a:off x="1530906" y="6492478"/>
            <a:ext cx="564249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Ask questions about the contract in natural language</a:t>
            </a:r>
            <a:endParaRPr lang="en-US" sz="175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56884" y="5924193"/>
            <a:ext cx="453628" cy="453628"/>
          </a:xfrm>
          <a:prstGeom prst="rect">
            <a:avLst/>
          </a:prstGeom>
        </p:spPr>
      </p:pic>
      <p:sp>
        <p:nvSpPr>
          <p:cNvPr id="20" name="Text 12"/>
          <p:cNvSpPr/>
          <p:nvPr/>
        </p:nvSpPr>
        <p:spPr>
          <a:xfrm>
            <a:off x="8194000" y="6002060"/>
            <a:ext cx="3134082"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All Free, In Your Browser</a:t>
            </a:r>
            <a:endParaRPr lang="en-US" sz="2200" dirty="0"/>
          </a:p>
        </p:txBody>
      </p:sp>
      <p:sp>
        <p:nvSpPr>
          <p:cNvPr id="21" name="Text 13"/>
          <p:cNvSpPr/>
          <p:nvPr/>
        </p:nvSpPr>
        <p:spPr>
          <a:xfrm>
            <a:off x="8194000" y="6492478"/>
            <a:ext cx="5642610"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All free, in your browser, with no lawyer required</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823561" y="869275"/>
            <a:ext cx="1190982" cy="284083"/>
          </a:xfrm>
          <a:prstGeom prst="roundRect">
            <a:avLst>
              <a:gd name="adj" fmla="val 6724"/>
            </a:avLst>
          </a:prstGeom>
          <a:noFill/>
          <a:ln w="7620">
            <a:solidFill>
              <a:srgbClr val="282824"/>
            </a:solidFill>
            <a:prstDash val="solid"/>
          </a:ln>
        </p:spPr>
      </p:sp>
      <p:sp>
        <p:nvSpPr>
          <p:cNvPr id="3" name="Text 1"/>
          <p:cNvSpPr/>
          <p:nvPr/>
        </p:nvSpPr>
        <p:spPr>
          <a:xfrm>
            <a:off x="1926669" y="924639"/>
            <a:ext cx="984766" cy="173355"/>
          </a:xfrm>
          <a:prstGeom prst="rect">
            <a:avLst/>
          </a:prstGeom>
          <a:noFill/>
          <a:ln/>
        </p:spPr>
        <p:txBody>
          <a:bodyPr wrap="none" lIns="0" tIns="0" rIns="0" bIns="0" rtlCol="0" anchor="t"/>
          <a:lstStyle/>
          <a:p>
            <a:pPr algn="l" indent="0" marL="0">
              <a:lnSpc>
                <a:spcPts val="1350"/>
              </a:lnSpc>
              <a:buNone/>
            </a:pPr>
            <a:r>
              <a:rPr lang="en-US" sz="1000" dirty="0">
                <a:solidFill>
                  <a:srgbClr val="282824"/>
                </a:solidFill>
                <a:latin typeface="Lato" pitchFamily="34" charset="0"/>
                <a:ea typeface="Lato" pitchFamily="34" charset="-122"/>
                <a:cs typeface="Lato" pitchFamily="34" charset="-120"/>
              </a:rPr>
              <a:t>CORE FEATURES</a:t>
            </a:r>
            <a:endParaRPr lang="en-US" sz="1000" dirty="0"/>
          </a:p>
        </p:txBody>
      </p:sp>
      <p:sp>
        <p:nvSpPr>
          <p:cNvPr id="4" name="Text 2"/>
          <p:cNvSpPr/>
          <p:nvPr/>
        </p:nvSpPr>
        <p:spPr>
          <a:xfrm>
            <a:off x="1823561" y="1198007"/>
            <a:ext cx="3979426" cy="497324"/>
          </a:xfrm>
          <a:prstGeom prst="rect">
            <a:avLst/>
          </a:prstGeom>
          <a:noFill/>
          <a:ln/>
        </p:spPr>
        <p:txBody>
          <a:bodyPr wrap="none" lIns="0" tIns="0" rIns="0" bIns="0" rtlCol="0" anchor="t"/>
          <a:lstStyle/>
          <a:p>
            <a:pPr algn="l" indent="0" marL="0">
              <a:lnSpc>
                <a:spcPts val="3900"/>
              </a:lnSpc>
              <a:buNone/>
            </a:pPr>
            <a:r>
              <a:rPr lang="en-US" sz="3100" b="1" dirty="0">
                <a:solidFill>
                  <a:srgbClr val="282824"/>
                </a:solidFill>
                <a:latin typeface="Lato Bold" pitchFamily="34" charset="0"/>
                <a:ea typeface="Lato Bold" pitchFamily="34" charset="-122"/>
                <a:cs typeface="Lato Bold" pitchFamily="34" charset="-120"/>
              </a:rPr>
              <a:t>Core Features</a:t>
            </a:r>
            <a:endParaRPr lang="en-US" sz="3100" dirty="0"/>
          </a:p>
        </p:txBody>
      </p:sp>
      <p:sp>
        <p:nvSpPr>
          <p:cNvPr id="5" name="Text 3"/>
          <p:cNvSpPr/>
          <p:nvPr/>
        </p:nvSpPr>
        <p:spPr>
          <a:xfrm>
            <a:off x="1823561" y="1862852"/>
            <a:ext cx="10983158" cy="216694"/>
          </a:xfrm>
          <a:prstGeom prst="rect">
            <a:avLst/>
          </a:prstGeom>
          <a:noFill/>
          <a:ln/>
        </p:spPr>
        <p:txBody>
          <a:bodyPr wrap="none" lIns="0" tIns="0" rIns="0" bIns="0" rtlCol="0" anchor="t"/>
          <a:lstStyle/>
          <a:p>
            <a:pPr algn="l" indent="0" marL="0">
              <a:lnSpc>
                <a:spcPts val="1700"/>
              </a:lnSpc>
              <a:buNone/>
            </a:pPr>
            <a:r>
              <a:rPr lang="en-US" sz="1250" dirty="0">
                <a:solidFill>
                  <a:srgbClr val="4A4A45"/>
                </a:solidFill>
                <a:latin typeface="Lato" pitchFamily="34" charset="0"/>
                <a:ea typeface="Lato" pitchFamily="34" charset="-122"/>
                <a:cs typeface="Lato" pitchFamily="34" charset="-120"/>
              </a:rPr>
              <a:t>10 production-grade capabilities:</a:t>
            </a:r>
            <a:endParaRPr lang="en-US" sz="1250" dirty="0"/>
          </a:p>
        </p:txBody>
      </p:sp>
      <p:sp>
        <p:nvSpPr>
          <p:cNvPr id="6" name="Shape 4"/>
          <p:cNvSpPr/>
          <p:nvPr/>
        </p:nvSpPr>
        <p:spPr>
          <a:xfrm>
            <a:off x="1823561" y="2205157"/>
            <a:ext cx="5435679" cy="580549"/>
          </a:xfrm>
          <a:prstGeom prst="roundRect">
            <a:avLst>
              <a:gd name="adj" fmla="val 18901"/>
            </a:avLst>
          </a:prstGeom>
          <a:solidFill>
            <a:srgbClr val="EFECE6"/>
          </a:solidFill>
          <a:ln w="22860">
            <a:solidFill>
              <a:srgbClr val="CBC5B8"/>
            </a:solidFill>
            <a:prstDash val="solid"/>
          </a:ln>
        </p:spPr>
      </p:sp>
      <p:sp>
        <p:nvSpPr>
          <p:cNvPr id="7" name="Shape 5"/>
          <p:cNvSpPr/>
          <p:nvPr/>
        </p:nvSpPr>
        <p:spPr>
          <a:xfrm>
            <a:off x="1800701" y="2205157"/>
            <a:ext cx="91440" cy="580549"/>
          </a:xfrm>
          <a:prstGeom prst="roundRect">
            <a:avLst>
              <a:gd name="adj" fmla="val 26112"/>
            </a:avLst>
          </a:prstGeom>
          <a:solidFill>
            <a:srgbClr val="282824"/>
          </a:solidFill>
          <a:ln/>
        </p:spPr>
      </p:sp>
      <p:sp>
        <p:nvSpPr>
          <p:cNvPr id="8" name="Text 6"/>
          <p:cNvSpPr/>
          <p:nvPr/>
        </p:nvSpPr>
        <p:spPr>
          <a:xfrm>
            <a:off x="2074069" y="2387084"/>
            <a:ext cx="5003244" cy="216694"/>
          </a:xfrm>
          <a:prstGeom prst="rect">
            <a:avLst/>
          </a:prstGeom>
          <a:noFill/>
          <a:ln/>
        </p:spPr>
        <p:txBody>
          <a:bodyPr wrap="non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Multi-format upload:</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PDF, DOCX, TXT, PNG, JPG</a:t>
            </a:r>
            <a:endParaRPr lang="en-US" sz="1250" dirty="0"/>
          </a:p>
        </p:txBody>
      </p:sp>
      <p:sp>
        <p:nvSpPr>
          <p:cNvPr id="9" name="Shape 7"/>
          <p:cNvSpPr/>
          <p:nvPr/>
        </p:nvSpPr>
        <p:spPr>
          <a:xfrm>
            <a:off x="7370921" y="2205157"/>
            <a:ext cx="5435798" cy="580549"/>
          </a:xfrm>
          <a:prstGeom prst="roundRect">
            <a:avLst>
              <a:gd name="adj" fmla="val 18901"/>
            </a:avLst>
          </a:prstGeom>
          <a:solidFill>
            <a:srgbClr val="EFECE6"/>
          </a:solidFill>
          <a:ln w="22860">
            <a:solidFill>
              <a:srgbClr val="CBC5B8"/>
            </a:solidFill>
            <a:prstDash val="solid"/>
          </a:ln>
        </p:spPr>
      </p:sp>
      <p:sp>
        <p:nvSpPr>
          <p:cNvPr id="10" name="Shape 8"/>
          <p:cNvSpPr/>
          <p:nvPr/>
        </p:nvSpPr>
        <p:spPr>
          <a:xfrm>
            <a:off x="7348061" y="2205157"/>
            <a:ext cx="91440" cy="580549"/>
          </a:xfrm>
          <a:prstGeom prst="roundRect">
            <a:avLst>
              <a:gd name="adj" fmla="val 26112"/>
            </a:avLst>
          </a:prstGeom>
          <a:solidFill>
            <a:srgbClr val="282824"/>
          </a:solidFill>
          <a:ln/>
        </p:spPr>
      </p:sp>
      <p:sp>
        <p:nvSpPr>
          <p:cNvPr id="11" name="Text 9"/>
          <p:cNvSpPr/>
          <p:nvPr/>
        </p:nvSpPr>
        <p:spPr>
          <a:xfrm>
            <a:off x="7621429" y="2387084"/>
            <a:ext cx="5003363" cy="216694"/>
          </a:xfrm>
          <a:prstGeom prst="rect">
            <a:avLst/>
          </a:prstGeom>
          <a:noFill/>
          <a:ln/>
        </p:spPr>
        <p:txBody>
          <a:bodyPr wrap="non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OCR</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for scanned documents and images (Tesseract.js)</a:t>
            </a:r>
            <a:endParaRPr lang="en-US" sz="1250" dirty="0"/>
          </a:p>
        </p:txBody>
      </p:sp>
      <p:sp>
        <p:nvSpPr>
          <p:cNvPr id="12" name="Shape 10"/>
          <p:cNvSpPr/>
          <p:nvPr/>
        </p:nvSpPr>
        <p:spPr>
          <a:xfrm>
            <a:off x="1823561" y="2897386"/>
            <a:ext cx="5435679" cy="797243"/>
          </a:xfrm>
          <a:prstGeom prst="roundRect">
            <a:avLst>
              <a:gd name="adj" fmla="val 13763"/>
            </a:avLst>
          </a:prstGeom>
          <a:solidFill>
            <a:srgbClr val="EFECE6"/>
          </a:solidFill>
          <a:ln w="22860">
            <a:solidFill>
              <a:srgbClr val="CBC5B8"/>
            </a:solidFill>
            <a:prstDash val="solid"/>
          </a:ln>
        </p:spPr>
      </p:sp>
      <p:sp>
        <p:nvSpPr>
          <p:cNvPr id="13" name="Shape 11"/>
          <p:cNvSpPr/>
          <p:nvPr/>
        </p:nvSpPr>
        <p:spPr>
          <a:xfrm>
            <a:off x="1800701" y="2897386"/>
            <a:ext cx="91440" cy="797243"/>
          </a:xfrm>
          <a:prstGeom prst="roundRect">
            <a:avLst>
              <a:gd name="adj" fmla="val 26112"/>
            </a:avLst>
          </a:prstGeom>
          <a:solidFill>
            <a:srgbClr val="282824"/>
          </a:solidFill>
          <a:ln/>
        </p:spPr>
      </p:sp>
      <p:sp>
        <p:nvSpPr>
          <p:cNvPr id="14" name="Text 12"/>
          <p:cNvSpPr/>
          <p:nvPr/>
        </p:nvSpPr>
        <p:spPr>
          <a:xfrm>
            <a:off x="2074069" y="3079313"/>
            <a:ext cx="5003244" cy="216694"/>
          </a:xfrm>
          <a:prstGeom prst="rect">
            <a:avLst/>
          </a:prstGeom>
          <a:noFill/>
          <a:ln/>
        </p:spPr>
        <p:txBody>
          <a:bodyPr wrap="non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Real-time streaming AI analysis</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via SSE</a:t>
            </a:r>
            <a:endParaRPr lang="en-US" sz="1250" dirty="0"/>
          </a:p>
        </p:txBody>
      </p:sp>
      <p:sp>
        <p:nvSpPr>
          <p:cNvPr id="15" name="Shape 13"/>
          <p:cNvSpPr/>
          <p:nvPr/>
        </p:nvSpPr>
        <p:spPr>
          <a:xfrm>
            <a:off x="7370921" y="2897386"/>
            <a:ext cx="5435798" cy="797243"/>
          </a:xfrm>
          <a:prstGeom prst="roundRect">
            <a:avLst>
              <a:gd name="adj" fmla="val 13763"/>
            </a:avLst>
          </a:prstGeom>
          <a:solidFill>
            <a:srgbClr val="EFECE6"/>
          </a:solidFill>
          <a:ln w="22860">
            <a:solidFill>
              <a:srgbClr val="CBC5B8"/>
            </a:solidFill>
            <a:prstDash val="solid"/>
          </a:ln>
        </p:spPr>
      </p:sp>
      <p:sp>
        <p:nvSpPr>
          <p:cNvPr id="16" name="Shape 14"/>
          <p:cNvSpPr/>
          <p:nvPr/>
        </p:nvSpPr>
        <p:spPr>
          <a:xfrm>
            <a:off x="7348061" y="2897386"/>
            <a:ext cx="91440" cy="797243"/>
          </a:xfrm>
          <a:prstGeom prst="roundRect">
            <a:avLst>
              <a:gd name="adj" fmla="val 26112"/>
            </a:avLst>
          </a:prstGeom>
          <a:solidFill>
            <a:srgbClr val="282824"/>
          </a:solidFill>
          <a:ln/>
        </p:spPr>
      </p:sp>
      <p:sp>
        <p:nvSpPr>
          <p:cNvPr id="17" name="Text 15"/>
          <p:cNvSpPr/>
          <p:nvPr/>
        </p:nvSpPr>
        <p:spPr>
          <a:xfrm>
            <a:off x="7621429" y="3079313"/>
            <a:ext cx="5003363" cy="433388"/>
          </a:xfrm>
          <a:prstGeom prst="rect">
            <a:avLst/>
          </a:prstGeom>
          <a:noFill/>
          <a:ln/>
        </p:spPr>
        <p:txBody>
          <a:bodyPr wrap="squar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Color-coded clause highlights:</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a:t>
            </a:r>
            <a:pPr algn="l" indent="0" marL="0">
              <a:lnSpc>
                <a:spcPts val="1700"/>
              </a:lnSpc>
              <a:buNone/>
            </a:pPr>
            <a:r>
              <a:rPr lang="en-US" sz="1250" dirty="0">
                <a:solidFill>
                  <a:srgbClr val="FF4444"/>
                </a:solidFill>
                <a:latin typeface="Lato" pitchFamily="34" charset="0"/>
                <a:ea typeface="Lato" pitchFamily="34" charset="-122"/>
                <a:cs typeface="Lato" pitchFamily="34" charset="-120"/>
              </a:rPr>
              <a:t>Red (High)</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 </a:t>
            </a:r>
            <a:pPr algn="l" indent="0" marL="0">
              <a:lnSpc>
                <a:spcPts val="1700"/>
              </a:lnSpc>
              <a:buNone/>
            </a:pPr>
            <a:r>
              <a:rPr lang="en-US" sz="1250" dirty="0">
                <a:solidFill>
                  <a:srgbClr val="FFA500"/>
                </a:solidFill>
                <a:latin typeface="Lato" pitchFamily="34" charset="0"/>
                <a:ea typeface="Lato" pitchFamily="34" charset="-122"/>
                <a:cs typeface="Lato" pitchFamily="34" charset="-120"/>
              </a:rPr>
              <a:t>Amber (Medium)</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 </a:t>
            </a:r>
            <a:pPr algn="l" indent="0" marL="0">
              <a:lnSpc>
                <a:spcPts val="1700"/>
              </a:lnSpc>
              <a:buNone/>
            </a:pPr>
            <a:r>
              <a:rPr lang="en-US" sz="1250" dirty="0">
                <a:solidFill>
                  <a:srgbClr val="4488FF"/>
                </a:solidFill>
                <a:latin typeface="Lato" pitchFamily="34" charset="0"/>
                <a:ea typeface="Lato" pitchFamily="34" charset="-122"/>
                <a:cs typeface="Lato" pitchFamily="34" charset="-120"/>
              </a:rPr>
              <a:t>Blue (Low)</a:t>
            </a:r>
            <a:endParaRPr lang="en-US" sz="1250" dirty="0"/>
          </a:p>
        </p:txBody>
      </p:sp>
      <p:sp>
        <p:nvSpPr>
          <p:cNvPr id="18" name="Shape 16"/>
          <p:cNvSpPr/>
          <p:nvPr/>
        </p:nvSpPr>
        <p:spPr>
          <a:xfrm>
            <a:off x="1823561" y="3806309"/>
            <a:ext cx="5435679" cy="580549"/>
          </a:xfrm>
          <a:prstGeom prst="roundRect">
            <a:avLst>
              <a:gd name="adj" fmla="val 18901"/>
            </a:avLst>
          </a:prstGeom>
          <a:solidFill>
            <a:srgbClr val="EFECE6"/>
          </a:solidFill>
          <a:ln w="22860">
            <a:solidFill>
              <a:srgbClr val="CBC5B8"/>
            </a:solidFill>
            <a:prstDash val="solid"/>
          </a:ln>
        </p:spPr>
      </p:sp>
      <p:sp>
        <p:nvSpPr>
          <p:cNvPr id="19" name="Shape 17"/>
          <p:cNvSpPr/>
          <p:nvPr/>
        </p:nvSpPr>
        <p:spPr>
          <a:xfrm>
            <a:off x="1800701" y="3806309"/>
            <a:ext cx="91440" cy="580549"/>
          </a:xfrm>
          <a:prstGeom prst="roundRect">
            <a:avLst>
              <a:gd name="adj" fmla="val 26112"/>
            </a:avLst>
          </a:prstGeom>
          <a:solidFill>
            <a:srgbClr val="282824"/>
          </a:solidFill>
          <a:ln/>
        </p:spPr>
      </p:sp>
      <p:sp>
        <p:nvSpPr>
          <p:cNvPr id="20" name="Text 18"/>
          <p:cNvSpPr/>
          <p:nvPr/>
        </p:nvSpPr>
        <p:spPr>
          <a:xfrm>
            <a:off x="2074069" y="3988237"/>
            <a:ext cx="5003244" cy="216694"/>
          </a:xfrm>
          <a:prstGeom prst="rect">
            <a:avLst/>
          </a:prstGeom>
          <a:noFill/>
          <a:ln/>
        </p:spPr>
        <p:txBody>
          <a:bodyPr wrap="non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Risk score ring</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0–100 with animated SVG fill</a:t>
            </a:r>
            <a:endParaRPr lang="en-US" sz="1250" dirty="0"/>
          </a:p>
        </p:txBody>
      </p:sp>
      <p:sp>
        <p:nvSpPr>
          <p:cNvPr id="21" name="Shape 19"/>
          <p:cNvSpPr/>
          <p:nvPr/>
        </p:nvSpPr>
        <p:spPr>
          <a:xfrm>
            <a:off x="1823561" y="4592030"/>
            <a:ext cx="10983158" cy="27503"/>
          </a:xfrm>
          <a:prstGeom prst="rect">
            <a:avLst/>
          </a:prstGeom>
          <a:solidFill>
            <a:srgbClr val="4A4A45">
              <a:alpha val="50000"/>
            </a:srgbClr>
          </a:solidFill>
          <a:ln/>
        </p:spPr>
      </p:sp>
      <p:sp>
        <p:nvSpPr>
          <p:cNvPr id="22" name="Shape 20"/>
          <p:cNvSpPr/>
          <p:nvPr/>
        </p:nvSpPr>
        <p:spPr>
          <a:xfrm>
            <a:off x="1823561" y="4745117"/>
            <a:ext cx="5435679" cy="797243"/>
          </a:xfrm>
          <a:prstGeom prst="roundRect">
            <a:avLst>
              <a:gd name="adj" fmla="val 13763"/>
            </a:avLst>
          </a:prstGeom>
          <a:solidFill>
            <a:srgbClr val="EFECE6"/>
          </a:solidFill>
          <a:ln w="22860">
            <a:solidFill>
              <a:srgbClr val="CBC5B8"/>
            </a:solidFill>
            <a:prstDash val="solid"/>
          </a:ln>
        </p:spPr>
      </p:sp>
      <p:sp>
        <p:nvSpPr>
          <p:cNvPr id="23" name="Shape 21"/>
          <p:cNvSpPr/>
          <p:nvPr/>
        </p:nvSpPr>
        <p:spPr>
          <a:xfrm>
            <a:off x="1800701" y="4745117"/>
            <a:ext cx="91440" cy="797243"/>
          </a:xfrm>
          <a:prstGeom prst="roundRect">
            <a:avLst>
              <a:gd name="adj" fmla="val 26112"/>
            </a:avLst>
          </a:prstGeom>
          <a:solidFill>
            <a:srgbClr val="282824"/>
          </a:solidFill>
          <a:ln/>
        </p:spPr>
      </p:sp>
      <p:sp>
        <p:nvSpPr>
          <p:cNvPr id="24" name="Text 22"/>
          <p:cNvSpPr/>
          <p:nvPr/>
        </p:nvSpPr>
        <p:spPr>
          <a:xfrm>
            <a:off x="2074069" y="4927044"/>
            <a:ext cx="5003244" cy="433388"/>
          </a:xfrm>
          <a:prstGeom prst="rect">
            <a:avLst/>
          </a:prstGeom>
          <a:noFill/>
          <a:ln/>
        </p:spPr>
        <p:txBody>
          <a:bodyPr wrap="squar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Actionable risk cards:</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title, severity, clause quote, why risky, real-world impact, suggested fix, AI confidence</a:t>
            </a:r>
            <a:endParaRPr lang="en-US" sz="1250" dirty="0"/>
          </a:p>
        </p:txBody>
      </p:sp>
      <p:sp>
        <p:nvSpPr>
          <p:cNvPr id="25" name="Shape 23"/>
          <p:cNvSpPr/>
          <p:nvPr/>
        </p:nvSpPr>
        <p:spPr>
          <a:xfrm>
            <a:off x="7370921" y="4745117"/>
            <a:ext cx="5435798" cy="797243"/>
          </a:xfrm>
          <a:prstGeom prst="roundRect">
            <a:avLst>
              <a:gd name="adj" fmla="val 13763"/>
            </a:avLst>
          </a:prstGeom>
          <a:solidFill>
            <a:srgbClr val="EFECE6"/>
          </a:solidFill>
          <a:ln w="22860">
            <a:solidFill>
              <a:srgbClr val="CBC5B8"/>
            </a:solidFill>
            <a:prstDash val="solid"/>
          </a:ln>
        </p:spPr>
      </p:sp>
      <p:sp>
        <p:nvSpPr>
          <p:cNvPr id="26" name="Shape 24"/>
          <p:cNvSpPr/>
          <p:nvPr/>
        </p:nvSpPr>
        <p:spPr>
          <a:xfrm>
            <a:off x="7348061" y="4745117"/>
            <a:ext cx="91440" cy="797243"/>
          </a:xfrm>
          <a:prstGeom prst="roundRect">
            <a:avLst>
              <a:gd name="adj" fmla="val 26112"/>
            </a:avLst>
          </a:prstGeom>
          <a:solidFill>
            <a:srgbClr val="282824"/>
          </a:solidFill>
          <a:ln/>
        </p:spPr>
      </p:sp>
      <p:sp>
        <p:nvSpPr>
          <p:cNvPr id="27" name="Text 25"/>
          <p:cNvSpPr/>
          <p:nvPr/>
        </p:nvSpPr>
        <p:spPr>
          <a:xfrm>
            <a:off x="7621429" y="4927044"/>
            <a:ext cx="5003363" cy="216694"/>
          </a:xfrm>
          <a:prstGeom prst="rect">
            <a:avLst/>
          </a:prstGeom>
          <a:noFill/>
          <a:ln/>
        </p:spPr>
        <p:txBody>
          <a:bodyPr wrap="non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Conversational AI chatbot</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grounded in the uploaded contract</a:t>
            </a:r>
            <a:endParaRPr lang="en-US" sz="1250" dirty="0"/>
          </a:p>
        </p:txBody>
      </p:sp>
      <p:sp>
        <p:nvSpPr>
          <p:cNvPr id="28" name="Shape 26"/>
          <p:cNvSpPr/>
          <p:nvPr/>
        </p:nvSpPr>
        <p:spPr>
          <a:xfrm>
            <a:off x="1823561" y="5654040"/>
            <a:ext cx="5435679" cy="797243"/>
          </a:xfrm>
          <a:prstGeom prst="roundRect">
            <a:avLst>
              <a:gd name="adj" fmla="val 13763"/>
            </a:avLst>
          </a:prstGeom>
          <a:solidFill>
            <a:srgbClr val="EFECE6"/>
          </a:solidFill>
          <a:ln w="22860">
            <a:solidFill>
              <a:srgbClr val="CBC5B8"/>
            </a:solidFill>
            <a:prstDash val="solid"/>
          </a:ln>
        </p:spPr>
      </p:sp>
      <p:sp>
        <p:nvSpPr>
          <p:cNvPr id="29" name="Shape 27"/>
          <p:cNvSpPr/>
          <p:nvPr/>
        </p:nvSpPr>
        <p:spPr>
          <a:xfrm>
            <a:off x="1800701" y="5654040"/>
            <a:ext cx="91440" cy="797243"/>
          </a:xfrm>
          <a:prstGeom prst="roundRect">
            <a:avLst>
              <a:gd name="adj" fmla="val 26112"/>
            </a:avLst>
          </a:prstGeom>
          <a:solidFill>
            <a:srgbClr val="282824"/>
          </a:solidFill>
          <a:ln/>
        </p:spPr>
      </p:sp>
      <p:sp>
        <p:nvSpPr>
          <p:cNvPr id="30" name="Text 28"/>
          <p:cNvSpPr/>
          <p:nvPr/>
        </p:nvSpPr>
        <p:spPr>
          <a:xfrm>
            <a:off x="2074069" y="5835967"/>
            <a:ext cx="5003244" cy="216694"/>
          </a:xfrm>
          <a:prstGeom prst="rect">
            <a:avLst/>
          </a:prstGeom>
          <a:noFill/>
          <a:ln/>
        </p:spPr>
        <p:txBody>
          <a:bodyPr wrap="non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Smart suggested questions</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generated from detected risks</a:t>
            </a:r>
            <a:endParaRPr lang="en-US" sz="1250" dirty="0"/>
          </a:p>
        </p:txBody>
      </p:sp>
      <p:sp>
        <p:nvSpPr>
          <p:cNvPr id="31" name="Shape 29"/>
          <p:cNvSpPr/>
          <p:nvPr/>
        </p:nvSpPr>
        <p:spPr>
          <a:xfrm>
            <a:off x="7370921" y="5654040"/>
            <a:ext cx="5435798" cy="797243"/>
          </a:xfrm>
          <a:prstGeom prst="roundRect">
            <a:avLst>
              <a:gd name="adj" fmla="val 13763"/>
            </a:avLst>
          </a:prstGeom>
          <a:solidFill>
            <a:srgbClr val="EFECE6"/>
          </a:solidFill>
          <a:ln w="22860">
            <a:solidFill>
              <a:srgbClr val="CBC5B8"/>
            </a:solidFill>
            <a:prstDash val="solid"/>
          </a:ln>
        </p:spPr>
      </p:sp>
      <p:sp>
        <p:nvSpPr>
          <p:cNvPr id="32" name="Shape 30"/>
          <p:cNvSpPr/>
          <p:nvPr/>
        </p:nvSpPr>
        <p:spPr>
          <a:xfrm>
            <a:off x="7348061" y="5654040"/>
            <a:ext cx="91440" cy="797243"/>
          </a:xfrm>
          <a:prstGeom prst="roundRect">
            <a:avLst>
              <a:gd name="adj" fmla="val 26112"/>
            </a:avLst>
          </a:prstGeom>
          <a:solidFill>
            <a:srgbClr val="282824"/>
          </a:solidFill>
          <a:ln/>
        </p:spPr>
      </p:sp>
      <p:sp>
        <p:nvSpPr>
          <p:cNvPr id="33" name="Text 31"/>
          <p:cNvSpPr/>
          <p:nvPr/>
        </p:nvSpPr>
        <p:spPr>
          <a:xfrm>
            <a:off x="7621429" y="5835967"/>
            <a:ext cx="5003363" cy="433388"/>
          </a:xfrm>
          <a:prstGeom prst="rect">
            <a:avLst/>
          </a:prstGeom>
          <a:noFill/>
          <a:ln/>
        </p:spPr>
        <p:txBody>
          <a:bodyPr wrap="squar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Cloud history with Supabase authentication</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 save and revisit every analysis</a:t>
            </a:r>
            <a:endParaRPr lang="en-US" sz="1250" dirty="0"/>
          </a:p>
        </p:txBody>
      </p:sp>
      <p:sp>
        <p:nvSpPr>
          <p:cNvPr id="34" name="Shape 32"/>
          <p:cNvSpPr/>
          <p:nvPr/>
        </p:nvSpPr>
        <p:spPr>
          <a:xfrm>
            <a:off x="1823561" y="6562963"/>
            <a:ext cx="5435679" cy="797243"/>
          </a:xfrm>
          <a:prstGeom prst="roundRect">
            <a:avLst>
              <a:gd name="adj" fmla="val 13763"/>
            </a:avLst>
          </a:prstGeom>
          <a:solidFill>
            <a:srgbClr val="EFECE6"/>
          </a:solidFill>
          <a:ln w="22860">
            <a:solidFill>
              <a:srgbClr val="CBC5B8"/>
            </a:solidFill>
            <a:prstDash val="solid"/>
          </a:ln>
        </p:spPr>
      </p:sp>
      <p:sp>
        <p:nvSpPr>
          <p:cNvPr id="35" name="Shape 33"/>
          <p:cNvSpPr/>
          <p:nvPr/>
        </p:nvSpPr>
        <p:spPr>
          <a:xfrm>
            <a:off x="1800701" y="6562963"/>
            <a:ext cx="91440" cy="797243"/>
          </a:xfrm>
          <a:prstGeom prst="roundRect">
            <a:avLst>
              <a:gd name="adj" fmla="val 26112"/>
            </a:avLst>
          </a:prstGeom>
          <a:solidFill>
            <a:srgbClr val="282824"/>
          </a:solidFill>
          <a:ln/>
        </p:spPr>
      </p:sp>
      <p:sp>
        <p:nvSpPr>
          <p:cNvPr id="36" name="Text 34"/>
          <p:cNvSpPr/>
          <p:nvPr/>
        </p:nvSpPr>
        <p:spPr>
          <a:xfrm>
            <a:off x="2074069" y="6744891"/>
            <a:ext cx="5003244" cy="433388"/>
          </a:xfrm>
          <a:prstGeom prst="rect">
            <a:avLst/>
          </a:prstGeom>
          <a:noFill/>
          <a:ln/>
        </p:spPr>
        <p:txBody>
          <a:bodyPr wrap="square" lIns="0" tIns="0" rIns="0" bIns="0" rtlCol="0" anchor="t"/>
          <a:lstStyle/>
          <a:p>
            <a:pPr algn="l" indent="0" marL="0">
              <a:lnSpc>
                <a:spcPts val="1700"/>
              </a:lnSpc>
              <a:buNone/>
            </a:pPr>
            <a:r>
              <a:rPr lang="en-US" sz="1250" b="1" dirty="0">
                <a:solidFill>
                  <a:srgbClr val="4A4A45"/>
                </a:solidFill>
                <a:latin typeface="Lato" pitchFamily="34" charset="0"/>
                <a:ea typeface="Lato" pitchFamily="34" charset="-122"/>
                <a:cs typeface="Lato" pitchFamily="34" charset="-120"/>
              </a:rPr>
              <a:t>Fully responsive:</a:t>
            </a:r>
            <a:pPr algn="l" indent="0" marL="0">
              <a:lnSpc>
                <a:spcPts val="1700"/>
              </a:lnSpc>
              <a:buNone/>
            </a:pPr>
            <a:r>
              <a:rPr lang="en-US" sz="1250" dirty="0">
                <a:solidFill>
                  <a:srgbClr val="4A4A45"/>
                </a:solidFill>
                <a:latin typeface="Lato" pitchFamily="34" charset="0"/>
                <a:ea typeface="Lato" pitchFamily="34" charset="-122"/>
                <a:cs typeface="Lato" pitchFamily="34" charset="-120"/>
              </a:rPr>
              <a:t> desktop side-by-side panels + mobile bottom tab navigation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0812" y="634960"/>
            <a:ext cx="7335917" cy="697230"/>
          </a:xfrm>
          <a:prstGeom prst="rect">
            <a:avLst/>
          </a:prstGeom>
          <a:noFill/>
          <a:ln/>
        </p:spPr>
        <p:txBody>
          <a:bodyPr wrap="none" lIns="0" tIns="0" rIns="0" bIns="0" rtlCol="0" anchor="t"/>
          <a:lstStyle/>
          <a:p>
            <a:pPr algn="l" indent="0" marL="0">
              <a:lnSpc>
                <a:spcPts val="5450"/>
              </a:lnSpc>
              <a:buNone/>
            </a:pPr>
            <a:r>
              <a:rPr lang="en-US" sz="4350" b="1" dirty="0">
                <a:solidFill>
                  <a:srgbClr val="282824"/>
                </a:solidFill>
                <a:latin typeface="Lato Bold" pitchFamily="34" charset="0"/>
                <a:ea typeface="Lato Bold" pitchFamily="34" charset="-122"/>
                <a:cs typeface="Lato Bold" pitchFamily="34" charset="-120"/>
              </a:rPr>
              <a:t>How It Works — Architecture</a:t>
            </a:r>
            <a:endParaRPr lang="en-US" sz="4350" dirty="0"/>
          </a:p>
        </p:txBody>
      </p:sp>
      <p:sp>
        <p:nvSpPr>
          <p:cNvPr id="3" name="Text 1"/>
          <p:cNvSpPr/>
          <p:nvPr/>
        </p:nvSpPr>
        <p:spPr>
          <a:xfrm>
            <a:off x="780812" y="1771055"/>
            <a:ext cx="13068776" cy="707946"/>
          </a:xfrm>
          <a:prstGeom prst="rect">
            <a:avLst/>
          </a:prstGeom>
          <a:noFill/>
          <a:ln/>
        </p:spPr>
        <p:txBody>
          <a:bodyPr wrap="square" lIns="0" tIns="0" rIns="0" bIns="0" rtlCol="0" anchor="t"/>
          <a:lstStyle/>
          <a:p>
            <a:pPr algn="l" indent="0" marL="0">
              <a:lnSpc>
                <a:spcPts val="2750"/>
              </a:lnSpc>
              <a:buNone/>
            </a:pPr>
            <a:r>
              <a:rPr lang="en-US" sz="1750" dirty="0">
                <a:solidFill>
                  <a:srgbClr val="4A4A45"/>
                </a:solidFill>
                <a:latin typeface="Lato" pitchFamily="34" charset="0"/>
                <a:ea typeface="Lato" pitchFamily="34" charset="-122"/>
                <a:cs typeface="Lato" pitchFamily="34" charset="-120"/>
              </a:rPr>
              <a:t>User uploads → Text extracted → AI analyzes → Results stream → Clauses highlighted → User asks questions → Analysis saved to cloud</a:t>
            </a:r>
            <a:endParaRPr lang="en-US" sz="1750" dirty="0"/>
          </a:p>
        </p:txBody>
      </p:sp>
      <p:sp>
        <p:nvSpPr>
          <p:cNvPr id="4" name="Shape 2"/>
          <p:cNvSpPr/>
          <p:nvPr/>
        </p:nvSpPr>
        <p:spPr>
          <a:xfrm>
            <a:off x="780812" y="5160169"/>
            <a:ext cx="13068776" cy="30480"/>
          </a:xfrm>
          <a:prstGeom prst="roundRect">
            <a:avLst>
              <a:gd name="adj" fmla="val 109798"/>
            </a:avLst>
          </a:prstGeom>
          <a:solidFill>
            <a:srgbClr val="CBC5B8"/>
          </a:solidFill>
          <a:ln/>
        </p:spPr>
      </p:sp>
      <p:sp>
        <p:nvSpPr>
          <p:cNvPr id="5" name="Shape 3"/>
          <p:cNvSpPr/>
          <p:nvPr/>
        </p:nvSpPr>
        <p:spPr>
          <a:xfrm>
            <a:off x="2296239" y="4490918"/>
            <a:ext cx="30480" cy="669250"/>
          </a:xfrm>
          <a:prstGeom prst="roundRect">
            <a:avLst>
              <a:gd name="adj" fmla="val 109798"/>
            </a:avLst>
          </a:prstGeom>
          <a:solidFill>
            <a:srgbClr val="CBC5B8"/>
          </a:solidFill>
          <a:ln/>
        </p:spPr>
      </p:sp>
      <p:sp>
        <p:nvSpPr>
          <p:cNvPr id="6" name="Shape 4"/>
          <p:cNvSpPr/>
          <p:nvPr/>
        </p:nvSpPr>
        <p:spPr>
          <a:xfrm>
            <a:off x="2060496" y="4909185"/>
            <a:ext cx="501968" cy="501968"/>
          </a:xfrm>
          <a:prstGeom prst="roundRect">
            <a:avLst>
              <a:gd name="adj" fmla="val 6667"/>
            </a:avLst>
          </a:prstGeom>
          <a:solidFill>
            <a:srgbClr val="E5DFD2"/>
          </a:solidFill>
          <a:ln/>
        </p:spPr>
      </p:sp>
      <p:sp>
        <p:nvSpPr>
          <p:cNvPr id="7" name="Text 5"/>
          <p:cNvSpPr/>
          <p:nvPr/>
        </p:nvSpPr>
        <p:spPr>
          <a:xfrm>
            <a:off x="2144197"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1</a:t>
            </a:r>
            <a:endParaRPr lang="en-US" sz="2600" dirty="0"/>
          </a:p>
        </p:txBody>
      </p:sp>
      <p:sp>
        <p:nvSpPr>
          <p:cNvPr id="8" name="Text 6"/>
          <p:cNvSpPr/>
          <p:nvPr/>
        </p:nvSpPr>
        <p:spPr>
          <a:xfrm>
            <a:off x="1003816" y="2725817"/>
            <a:ext cx="2615446"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1: Upload</a:t>
            </a:r>
            <a:endParaRPr lang="en-US" sz="2150" dirty="0"/>
          </a:p>
        </p:txBody>
      </p:sp>
      <p:sp>
        <p:nvSpPr>
          <p:cNvPr id="9" name="Text 7"/>
          <p:cNvSpPr/>
          <p:nvPr/>
        </p:nvSpPr>
        <p:spPr>
          <a:xfrm>
            <a:off x="1003816" y="3205877"/>
            <a:ext cx="2615446" cy="707946"/>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PDF, DOCX, TXT, or image file</a:t>
            </a:r>
            <a:endParaRPr lang="en-US" sz="1750" dirty="0"/>
          </a:p>
        </p:txBody>
      </p:sp>
      <p:sp>
        <p:nvSpPr>
          <p:cNvPr id="10" name="Shape 8"/>
          <p:cNvSpPr/>
          <p:nvPr/>
        </p:nvSpPr>
        <p:spPr>
          <a:xfrm>
            <a:off x="3964186" y="5160169"/>
            <a:ext cx="30480" cy="669250"/>
          </a:xfrm>
          <a:prstGeom prst="roundRect">
            <a:avLst>
              <a:gd name="adj" fmla="val 109798"/>
            </a:avLst>
          </a:prstGeom>
          <a:solidFill>
            <a:srgbClr val="CBC5B8"/>
          </a:solidFill>
          <a:ln/>
        </p:spPr>
      </p:sp>
      <p:sp>
        <p:nvSpPr>
          <p:cNvPr id="11" name="Shape 9"/>
          <p:cNvSpPr/>
          <p:nvPr/>
        </p:nvSpPr>
        <p:spPr>
          <a:xfrm>
            <a:off x="3728442" y="4909185"/>
            <a:ext cx="501968" cy="501968"/>
          </a:xfrm>
          <a:prstGeom prst="roundRect">
            <a:avLst>
              <a:gd name="adj" fmla="val 6667"/>
            </a:avLst>
          </a:prstGeom>
          <a:solidFill>
            <a:srgbClr val="E5DFD2"/>
          </a:solidFill>
          <a:ln/>
        </p:spPr>
      </p:sp>
      <p:sp>
        <p:nvSpPr>
          <p:cNvPr id="12" name="Text 10"/>
          <p:cNvSpPr/>
          <p:nvPr/>
        </p:nvSpPr>
        <p:spPr>
          <a:xfrm>
            <a:off x="3812143"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2</a:t>
            </a:r>
            <a:endParaRPr lang="en-US" sz="2600" dirty="0"/>
          </a:p>
        </p:txBody>
      </p:sp>
      <p:sp>
        <p:nvSpPr>
          <p:cNvPr id="13" name="Text 11"/>
          <p:cNvSpPr/>
          <p:nvPr/>
        </p:nvSpPr>
        <p:spPr>
          <a:xfrm>
            <a:off x="2671643" y="6052542"/>
            <a:ext cx="2615565"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2: Parse</a:t>
            </a:r>
            <a:endParaRPr lang="en-US" sz="2150" dirty="0"/>
          </a:p>
        </p:txBody>
      </p:sp>
      <p:sp>
        <p:nvSpPr>
          <p:cNvPr id="14" name="Text 12"/>
          <p:cNvSpPr/>
          <p:nvPr/>
        </p:nvSpPr>
        <p:spPr>
          <a:xfrm>
            <a:off x="2671643" y="6532602"/>
            <a:ext cx="2615565" cy="707946"/>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PDF.js / Mammoth.js / Tesseract.js extract text</a:t>
            </a:r>
            <a:endParaRPr lang="en-US" sz="1750" dirty="0"/>
          </a:p>
        </p:txBody>
      </p:sp>
      <p:sp>
        <p:nvSpPr>
          <p:cNvPr id="15" name="Shape 13"/>
          <p:cNvSpPr/>
          <p:nvPr/>
        </p:nvSpPr>
        <p:spPr>
          <a:xfrm>
            <a:off x="5632013" y="4490918"/>
            <a:ext cx="30480" cy="669250"/>
          </a:xfrm>
          <a:prstGeom prst="roundRect">
            <a:avLst>
              <a:gd name="adj" fmla="val 109798"/>
            </a:avLst>
          </a:prstGeom>
          <a:solidFill>
            <a:srgbClr val="CBC5B8"/>
          </a:solidFill>
          <a:ln/>
        </p:spPr>
      </p:sp>
      <p:sp>
        <p:nvSpPr>
          <p:cNvPr id="16" name="Shape 14"/>
          <p:cNvSpPr/>
          <p:nvPr/>
        </p:nvSpPr>
        <p:spPr>
          <a:xfrm>
            <a:off x="5396270" y="4909185"/>
            <a:ext cx="501968" cy="501968"/>
          </a:xfrm>
          <a:prstGeom prst="roundRect">
            <a:avLst>
              <a:gd name="adj" fmla="val 6667"/>
            </a:avLst>
          </a:prstGeom>
          <a:solidFill>
            <a:srgbClr val="E5DFD2"/>
          </a:solidFill>
          <a:ln/>
        </p:spPr>
      </p:sp>
      <p:sp>
        <p:nvSpPr>
          <p:cNvPr id="17" name="Text 15"/>
          <p:cNvSpPr/>
          <p:nvPr/>
        </p:nvSpPr>
        <p:spPr>
          <a:xfrm>
            <a:off x="5479971"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3</a:t>
            </a:r>
            <a:endParaRPr lang="en-US" sz="2600" dirty="0"/>
          </a:p>
        </p:txBody>
      </p:sp>
      <p:sp>
        <p:nvSpPr>
          <p:cNvPr id="18" name="Text 16"/>
          <p:cNvSpPr/>
          <p:nvPr/>
        </p:nvSpPr>
        <p:spPr>
          <a:xfrm>
            <a:off x="4339471" y="2725817"/>
            <a:ext cx="2615565"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3: Analyze</a:t>
            </a:r>
            <a:endParaRPr lang="en-US" sz="2150" dirty="0"/>
          </a:p>
        </p:txBody>
      </p:sp>
      <p:sp>
        <p:nvSpPr>
          <p:cNvPr id="19" name="Text 17"/>
          <p:cNvSpPr/>
          <p:nvPr/>
        </p:nvSpPr>
        <p:spPr>
          <a:xfrm>
            <a:off x="4339471" y="3205877"/>
            <a:ext cx="2615565" cy="1061918"/>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Groq LLM processes contract with structured prompt, outputs JSONL</a:t>
            </a:r>
            <a:endParaRPr lang="en-US" sz="1750" dirty="0"/>
          </a:p>
        </p:txBody>
      </p:sp>
      <p:sp>
        <p:nvSpPr>
          <p:cNvPr id="20" name="Shape 18"/>
          <p:cNvSpPr/>
          <p:nvPr/>
        </p:nvSpPr>
        <p:spPr>
          <a:xfrm>
            <a:off x="7299841" y="5160169"/>
            <a:ext cx="30480" cy="669250"/>
          </a:xfrm>
          <a:prstGeom prst="roundRect">
            <a:avLst>
              <a:gd name="adj" fmla="val 109798"/>
            </a:avLst>
          </a:prstGeom>
          <a:solidFill>
            <a:srgbClr val="CBC5B8"/>
          </a:solidFill>
          <a:ln/>
        </p:spPr>
      </p:sp>
      <p:sp>
        <p:nvSpPr>
          <p:cNvPr id="21" name="Shape 19"/>
          <p:cNvSpPr/>
          <p:nvPr/>
        </p:nvSpPr>
        <p:spPr>
          <a:xfrm>
            <a:off x="7064097" y="4909185"/>
            <a:ext cx="501968" cy="501968"/>
          </a:xfrm>
          <a:prstGeom prst="roundRect">
            <a:avLst>
              <a:gd name="adj" fmla="val 6667"/>
            </a:avLst>
          </a:prstGeom>
          <a:solidFill>
            <a:srgbClr val="E5DFD2"/>
          </a:solidFill>
          <a:ln/>
        </p:spPr>
      </p:sp>
      <p:sp>
        <p:nvSpPr>
          <p:cNvPr id="22" name="Text 20"/>
          <p:cNvSpPr/>
          <p:nvPr/>
        </p:nvSpPr>
        <p:spPr>
          <a:xfrm>
            <a:off x="7147798"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4</a:t>
            </a:r>
            <a:endParaRPr lang="en-US" sz="2600" dirty="0"/>
          </a:p>
        </p:txBody>
      </p:sp>
      <p:sp>
        <p:nvSpPr>
          <p:cNvPr id="23" name="Text 21"/>
          <p:cNvSpPr/>
          <p:nvPr/>
        </p:nvSpPr>
        <p:spPr>
          <a:xfrm>
            <a:off x="6007418" y="6052542"/>
            <a:ext cx="2615446"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4: Stream</a:t>
            </a:r>
            <a:endParaRPr lang="en-US" sz="2150" dirty="0"/>
          </a:p>
        </p:txBody>
      </p:sp>
      <p:sp>
        <p:nvSpPr>
          <p:cNvPr id="24" name="Text 22"/>
          <p:cNvSpPr/>
          <p:nvPr/>
        </p:nvSpPr>
        <p:spPr>
          <a:xfrm>
            <a:off x="6007418" y="6532602"/>
            <a:ext cx="2615446" cy="1061918"/>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Risk data streams to frontend via Server-Sent Events in real-time</a:t>
            </a:r>
            <a:endParaRPr lang="en-US" sz="1750" dirty="0"/>
          </a:p>
        </p:txBody>
      </p:sp>
      <p:sp>
        <p:nvSpPr>
          <p:cNvPr id="25" name="Shape 23"/>
          <p:cNvSpPr/>
          <p:nvPr/>
        </p:nvSpPr>
        <p:spPr>
          <a:xfrm>
            <a:off x="8967788" y="4490918"/>
            <a:ext cx="30480" cy="669250"/>
          </a:xfrm>
          <a:prstGeom prst="roundRect">
            <a:avLst>
              <a:gd name="adj" fmla="val 109798"/>
            </a:avLst>
          </a:prstGeom>
          <a:solidFill>
            <a:srgbClr val="CBC5B8"/>
          </a:solidFill>
          <a:ln/>
        </p:spPr>
      </p:sp>
      <p:sp>
        <p:nvSpPr>
          <p:cNvPr id="26" name="Shape 24"/>
          <p:cNvSpPr/>
          <p:nvPr/>
        </p:nvSpPr>
        <p:spPr>
          <a:xfrm>
            <a:off x="8732044" y="4909185"/>
            <a:ext cx="501968" cy="501968"/>
          </a:xfrm>
          <a:prstGeom prst="roundRect">
            <a:avLst>
              <a:gd name="adj" fmla="val 6667"/>
            </a:avLst>
          </a:prstGeom>
          <a:solidFill>
            <a:srgbClr val="E5DFD2"/>
          </a:solidFill>
          <a:ln/>
        </p:spPr>
      </p:sp>
      <p:sp>
        <p:nvSpPr>
          <p:cNvPr id="27" name="Text 25"/>
          <p:cNvSpPr/>
          <p:nvPr/>
        </p:nvSpPr>
        <p:spPr>
          <a:xfrm>
            <a:off x="8815745"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5</a:t>
            </a:r>
            <a:endParaRPr lang="en-US" sz="2600" dirty="0"/>
          </a:p>
        </p:txBody>
      </p:sp>
      <p:sp>
        <p:nvSpPr>
          <p:cNvPr id="28" name="Text 26"/>
          <p:cNvSpPr/>
          <p:nvPr/>
        </p:nvSpPr>
        <p:spPr>
          <a:xfrm>
            <a:off x="7675245" y="2725817"/>
            <a:ext cx="2615565"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5: Display</a:t>
            </a:r>
            <a:endParaRPr lang="en-US" sz="2150" dirty="0"/>
          </a:p>
        </p:txBody>
      </p:sp>
      <p:sp>
        <p:nvSpPr>
          <p:cNvPr id="29" name="Text 27"/>
          <p:cNvSpPr/>
          <p:nvPr/>
        </p:nvSpPr>
        <p:spPr>
          <a:xfrm>
            <a:off x="7675245" y="3205877"/>
            <a:ext cx="2615565" cy="1061918"/>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Risk cards animate in; exact clauses highlighted in contract text</a:t>
            </a:r>
            <a:endParaRPr lang="en-US" sz="1750" dirty="0"/>
          </a:p>
        </p:txBody>
      </p:sp>
      <p:sp>
        <p:nvSpPr>
          <p:cNvPr id="30" name="Shape 28"/>
          <p:cNvSpPr/>
          <p:nvPr/>
        </p:nvSpPr>
        <p:spPr>
          <a:xfrm>
            <a:off x="10635615" y="5160169"/>
            <a:ext cx="30480" cy="669250"/>
          </a:xfrm>
          <a:prstGeom prst="roundRect">
            <a:avLst>
              <a:gd name="adj" fmla="val 109798"/>
            </a:avLst>
          </a:prstGeom>
          <a:solidFill>
            <a:srgbClr val="CBC5B8"/>
          </a:solidFill>
          <a:ln/>
        </p:spPr>
      </p:sp>
      <p:sp>
        <p:nvSpPr>
          <p:cNvPr id="31" name="Shape 29"/>
          <p:cNvSpPr/>
          <p:nvPr/>
        </p:nvSpPr>
        <p:spPr>
          <a:xfrm>
            <a:off x="10399871" y="4909185"/>
            <a:ext cx="501968" cy="501968"/>
          </a:xfrm>
          <a:prstGeom prst="roundRect">
            <a:avLst>
              <a:gd name="adj" fmla="val 6667"/>
            </a:avLst>
          </a:prstGeom>
          <a:solidFill>
            <a:srgbClr val="E5DFD2"/>
          </a:solidFill>
          <a:ln/>
        </p:spPr>
      </p:sp>
      <p:sp>
        <p:nvSpPr>
          <p:cNvPr id="32" name="Text 30"/>
          <p:cNvSpPr/>
          <p:nvPr/>
        </p:nvSpPr>
        <p:spPr>
          <a:xfrm>
            <a:off x="10483572"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6</a:t>
            </a:r>
            <a:endParaRPr lang="en-US" sz="2600" dirty="0"/>
          </a:p>
        </p:txBody>
      </p:sp>
      <p:sp>
        <p:nvSpPr>
          <p:cNvPr id="33" name="Text 31"/>
          <p:cNvSpPr/>
          <p:nvPr/>
        </p:nvSpPr>
        <p:spPr>
          <a:xfrm>
            <a:off x="9343073" y="6052542"/>
            <a:ext cx="2615565"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6: Interact</a:t>
            </a:r>
            <a:endParaRPr lang="en-US" sz="2150" dirty="0"/>
          </a:p>
        </p:txBody>
      </p:sp>
      <p:sp>
        <p:nvSpPr>
          <p:cNvPr id="34" name="Text 32"/>
          <p:cNvSpPr/>
          <p:nvPr/>
        </p:nvSpPr>
        <p:spPr>
          <a:xfrm>
            <a:off x="9343073" y="6532602"/>
            <a:ext cx="2615565" cy="1061918"/>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User asks questions; AI answers using contract as context</a:t>
            </a:r>
            <a:endParaRPr lang="en-US" sz="1750" dirty="0"/>
          </a:p>
        </p:txBody>
      </p:sp>
      <p:sp>
        <p:nvSpPr>
          <p:cNvPr id="35" name="Shape 33"/>
          <p:cNvSpPr/>
          <p:nvPr/>
        </p:nvSpPr>
        <p:spPr>
          <a:xfrm>
            <a:off x="12303562" y="4490918"/>
            <a:ext cx="30480" cy="669250"/>
          </a:xfrm>
          <a:prstGeom prst="roundRect">
            <a:avLst>
              <a:gd name="adj" fmla="val 109798"/>
            </a:avLst>
          </a:prstGeom>
          <a:solidFill>
            <a:srgbClr val="CBC5B8"/>
          </a:solidFill>
          <a:ln/>
        </p:spPr>
      </p:sp>
      <p:sp>
        <p:nvSpPr>
          <p:cNvPr id="36" name="Shape 34"/>
          <p:cNvSpPr/>
          <p:nvPr/>
        </p:nvSpPr>
        <p:spPr>
          <a:xfrm>
            <a:off x="12067818" y="4909185"/>
            <a:ext cx="501968" cy="501968"/>
          </a:xfrm>
          <a:prstGeom prst="roundRect">
            <a:avLst>
              <a:gd name="adj" fmla="val 6667"/>
            </a:avLst>
          </a:prstGeom>
          <a:solidFill>
            <a:srgbClr val="E5DFD2"/>
          </a:solidFill>
          <a:ln/>
        </p:spPr>
      </p:sp>
      <p:sp>
        <p:nvSpPr>
          <p:cNvPr id="37" name="Text 35"/>
          <p:cNvSpPr/>
          <p:nvPr/>
        </p:nvSpPr>
        <p:spPr>
          <a:xfrm>
            <a:off x="12151519" y="4951035"/>
            <a:ext cx="334566" cy="418267"/>
          </a:xfrm>
          <a:prstGeom prst="rect">
            <a:avLst/>
          </a:prstGeom>
          <a:noFill/>
          <a:ln/>
        </p:spPr>
        <p:txBody>
          <a:bodyPr wrap="none" lIns="0" tIns="0" rIns="0" bIns="0" rtlCol="0" anchor="t"/>
          <a:lstStyle/>
          <a:p>
            <a:pPr algn="ctr" indent="0" marL="0">
              <a:lnSpc>
                <a:spcPts val="2600"/>
              </a:lnSpc>
              <a:buNone/>
            </a:pPr>
            <a:r>
              <a:rPr lang="en-US" sz="2600" b="1" dirty="0">
                <a:solidFill>
                  <a:srgbClr val="4A4A45"/>
                </a:solidFill>
                <a:latin typeface="Lato Bold" pitchFamily="34" charset="0"/>
                <a:ea typeface="Lato Bold" pitchFamily="34" charset="-122"/>
                <a:cs typeface="Lato Bold" pitchFamily="34" charset="-120"/>
              </a:rPr>
              <a:t>7</a:t>
            </a:r>
            <a:endParaRPr lang="en-US" sz="2600" dirty="0"/>
          </a:p>
        </p:txBody>
      </p:sp>
      <p:sp>
        <p:nvSpPr>
          <p:cNvPr id="38" name="Text 36"/>
          <p:cNvSpPr/>
          <p:nvPr/>
        </p:nvSpPr>
        <p:spPr>
          <a:xfrm>
            <a:off x="11011019" y="2725817"/>
            <a:ext cx="2615565" cy="348496"/>
          </a:xfrm>
          <a:prstGeom prst="rect">
            <a:avLst/>
          </a:prstGeom>
          <a:noFill/>
          <a:ln/>
        </p:spPr>
        <p:txBody>
          <a:bodyPr wrap="none" lIns="0" tIns="0" rIns="0" bIns="0" rtlCol="0" anchor="t"/>
          <a:lstStyle/>
          <a:p>
            <a:pPr algn="ctr" indent="0" marL="0">
              <a:lnSpc>
                <a:spcPts val="2700"/>
              </a:lnSpc>
              <a:buNone/>
            </a:pPr>
            <a:r>
              <a:rPr lang="en-US" sz="2150" b="1" dirty="0">
                <a:solidFill>
                  <a:srgbClr val="4A4A45"/>
                </a:solidFill>
                <a:latin typeface="Lato Bold" pitchFamily="34" charset="0"/>
                <a:ea typeface="Lato Bold" pitchFamily="34" charset="-122"/>
                <a:cs typeface="Lato Bold" pitchFamily="34" charset="-120"/>
              </a:rPr>
              <a:t>Step 7: Save</a:t>
            </a:r>
            <a:endParaRPr lang="en-US" sz="2150" dirty="0"/>
          </a:p>
        </p:txBody>
      </p:sp>
      <p:sp>
        <p:nvSpPr>
          <p:cNvPr id="39" name="Text 37"/>
          <p:cNvSpPr/>
          <p:nvPr/>
        </p:nvSpPr>
        <p:spPr>
          <a:xfrm>
            <a:off x="11011019" y="3205877"/>
            <a:ext cx="2615565" cy="1061918"/>
          </a:xfrm>
          <a:prstGeom prst="rect">
            <a:avLst/>
          </a:prstGeom>
          <a:noFill/>
          <a:ln/>
        </p:spPr>
        <p:txBody>
          <a:bodyPr wrap="square" lIns="0" tIns="0" rIns="0" bIns="0" rtlCol="0" anchor="t"/>
          <a:lstStyle/>
          <a:p>
            <a:pPr algn="ctr" indent="0" marL="0">
              <a:lnSpc>
                <a:spcPts val="2750"/>
              </a:lnSpc>
              <a:buNone/>
            </a:pPr>
            <a:r>
              <a:rPr lang="en-US" sz="1750" dirty="0">
                <a:solidFill>
                  <a:srgbClr val="4A4A45"/>
                </a:solidFill>
                <a:latin typeface="Lato" pitchFamily="34" charset="0"/>
                <a:ea typeface="Lato" pitchFamily="34" charset="-122"/>
                <a:cs typeface="Lato" pitchFamily="34" charset="-120"/>
              </a:rPr>
              <a:t>Analysis saved to Supabase cloud history automatically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0200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Tech Stack</a:t>
            </a:r>
            <a:endParaRPr lang="en-US" sz="4450" dirty="0"/>
          </a:p>
        </p:txBody>
      </p:sp>
      <p:sp>
        <p:nvSpPr>
          <p:cNvPr id="3" name="Shape 1"/>
          <p:cNvSpPr/>
          <p:nvPr/>
        </p:nvSpPr>
        <p:spPr>
          <a:xfrm>
            <a:off x="793790" y="1964412"/>
            <a:ext cx="6407944" cy="1669852"/>
          </a:xfrm>
          <a:prstGeom prst="roundRect">
            <a:avLst>
              <a:gd name="adj" fmla="val 2038"/>
            </a:avLst>
          </a:prstGeom>
          <a:solidFill>
            <a:srgbClr val="E5DFD2"/>
          </a:solidFill>
          <a:ln/>
        </p:spPr>
      </p:sp>
      <p:sp>
        <p:nvSpPr>
          <p:cNvPr id="4" name="Text 2"/>
          <p:cNvSpPr/>
          <p:nvPr/>
        </p:nvSpPr>
        <p:spPr>
          <a:xfrm>
            <a:off x="1020604" y="219122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Frontend</a:t>
            </a:r>
            <a:endParaRPr lang="en-US" sz="2200" dirty="0"/>
          </a:p>
        </p:txBody>
      </p:sp>
      <p:sp>
        <p:nvSpPr>
          <p:cNvPr id="5" name="Text 3"/>
          <p:cNvSpPr/>
          <p:nvPr/>
        </p:nvSpPr>
        <p:spPr>
          <a:xfrm>
            <a:off x="1020604" y="2681645"/>
            <a:ext cx="5954316"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React 18 + TypeScript + Vite + Framer Motion</a:t>
            </a:r>
            <a:endParaRPr lang="en-US" sz="1750" dirty="0"/>
          </a:p>
        </p:txBody>
      </p:sp>
      <p:sp>
        <p:nvSpPr>
          <p:cNvPr id="6" name="Shape 4"/>
          <p:cNvSpPr/>
          <p:nvPr/>
        </p:nvSpPr>
        <p:spPr>
          <a:xfrm>
            <a:off x="7428548" y="1964412"/>
            <a:ext cx="6408063" cy="1669852"/>
          </a:xfrm>
          <a:prstGeom prst="roundRect">
            <a:avLst>
              <a:gd name="adj" fmla="val 2038"/>
            </a:avLst>
          </a:prstGeom>
          <a:solidFill>
            <a:srgbClr val="E5DFD2"/>
          </a:solidFill>
          <a:ln/>
        </p:spPr>
      </p:sp>
      <p:sp>
        <p:nvSpPr>
          <p:cNvPr id="7" name="Text 5"/>
          <p:cNvSpPr/>
          <p:nvPr/>
        </p:nvSpPr>
        <p:spPr>
          <a:xfrm>
            <a:off x="7655362" y="219122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Backend</a:t>
            </a:r>
            <a:endParaRPr lang="en-US" sz="2200" dirty="0"/>
          </a:p>
        </p:txBody>
      </p:sp>
      <p:sp>
        <p:nvSpPr>
          <p:cNvPr id="8" name="Text 6"/>
          <p:cNvSpPr/>
          <p:nvPr/>
        </p:nvSpPr>
        <p:spPr>
          <a:xfrm>
            <a:off x="7655362" y="2681645"/>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Node.js + Vercel Serverless Functions + Server-Sent Events (SSE)</a:t>
            </a:r>
            <a:endParaRPr lang="en-US" sz="1750" dirty="0"/>
          </a:p>
        </p:txBody>
      </p:sp>
      <p:sp>
        <p:nvSpPr>
          <p:cNvPr id="9" name="Shape 7"/>
          <p:cNvSpPr/>
          <p:nvPr/>
        </p:nvSpPr>
        <p:spPr>
          <a:xfrm>
            <a:off x="793790" y="3861078"/>
            <a:ext cx="6407944" cy="1669852"/>
          </a:xfrm>
          <a:prstGeom prst="roundRect">
            <a:avLst>
              <a:gd name="adj" fmla="val 2038"/>
            </a:avLst>
          </a:prstGeom>
          <a:solidFill>
            <a:srgbClr val="E5DFD2"/>
          </a:solidFill>
          <a:ln/>
        </p:spPr>
      </p:sp>
      <p:sp>
        <p:nvSpPr>
          <p:cNvPr id="10" name="Text 8"/>
          <p:cNvSpPr/>
          <p:nvPr/>
        </p:nvSpPr>
        <p:spPr>
          <a:xfrm>
            <a:off x="1020604" y="408789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AI Engine</a:t>
            </a:r>
            <a:endParaRPr lang="en-US" sz="2200" dirty="0"/>
          </a:p>
        </p:txBody>
      </p:sp>
      <p:sp>
        <p:nvSpPr>
          <p:cNvPr id="11" name="Text 9"/>
          <p:cNvSpPr/>
          <p:nvPr/>
        </p:nvSpPr>
        <p:spPr>
          <a:xfrm>
            <a:off x="1020604" y="4578310"/>
            <a:ext cx="5954316"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Groq API — llama-3.3-70b-versatile with structured JSONL prompt engineering</a:t>
            </a:r>
            <a:endParaRPr lang="en-US" sz="1750" dirty="0"/>
          </a:p>
        </p:txBody>
      </p:sp>
      <p:sp>
        <p:nvSpPr>
          <p:cNvPr id="12" name="Shape 10"/>
          <p:cNvSpPr/>
          <p:nvPr/>
        </p:nvSpPr>
        <p:spPr>
          <a:xfrm>
            <a:off x="7428548" y="3861078"/>
            <a:ext cx="6408063" cy="1669852"/>
          </a:xfrm>
          <a:prstGeom prst="roundRect">
            <a:avLst>
              <a:gd name="adj" fmla="val 2038"/>
            </a:avLst>
          </a:prstGeom>
          <a:solidFill>
            <a:srgbClr val="E5DFD2"/>
          </a:solidFill>
          <a:ln/>
        </p:spPr>
      </p:sp>
      <p:sp>
        <p:nvSpPr>
          <p:cNvPr id="13" name="Text 11"/>
          <p:cNvSpPr/>
          <p:nvPr/>
        </p:nvSpPr>
        <p:spPr>
          <a:xfrm>
            <a:off x="7655362" y="408789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Document Parsing</a:t>
            </a:r>
            <a:endParaRPr lang="en-US" sz="2200" dirty="0"/>
          </a:p>
        </p:txBody>
      </p:sp>
      <p:sp>
        <p:nvSpPr>
          <p:cNvPr id="14" name="Text 12"/>
          <p:cNvSpPr/>
          <p:nvPr/>
        </p:nvSpPr>
        <p:spPr>
          <a:xfrm>
            <a:off x="7655362" y="4578310"/>
            <a:ext cx="5954435"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PDF.js, Mammoth.js, Tesseract.js (OCR)</a:t>
            </a:r>
            <a:endParaRPr lang="en-US" sz="1750" dirty="0"/>
          </a:p>
        </p:txBody>
      </p:sp>
      <p:sp>
        <p:nvSpPr>
          <p:cNvPr id="15" name="Shape 13"/>
          <p:cNvSpPr/>
          <p:nvPr/>
        </p:nvSpPr>
        <p:spPr>
          <a:xfrm>
            <a:off x="793790" y="5757743"/>
            <a:ext cx="6407944" cy="1669852"/>
          </a:xfrm>
          <a:prstGeom prst="roundRect">
            <a:avLst>
              <a:gd name="adj" fmla="val 2038"/>
            </a:avLst>
          </a:prstGeom>
          <a:solidFill>
            <a:srgbClr val="E5DFD2"/>
          </a:solidFill>
          <a:ln/>
        </p:spPr>
      </p:sp>
      <p:sp>
        <p:nvSpPr>
          <p:cNvPr id="16" name="Text 14"/>
          <p:cNvSpPr/>
          <p:nvPr/>
        </p:nvSpPr>
        <p:spPr>
          <a:xfrm>
            <a:off x="1020604" y="598455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Database &amp; Auth</a:t>
            </a:r>
            <a:endParaRPr lang="en-US" sz="2200" dirty="0"/>
          </a:p>
        </p:txBody>
      </p:sp>
      <p:sp>
        <p:nvSpPr>
          <p:cNvPr id="17" name="Text 15"/>
          <p:cNvSpPr/>
          <p:nvPr/>
        </p:nvSpPr>
        <p:spPr>
          <a:xfrm>
            <a:off x="1020604" y="6474976"/>
            <a:ext cx="5954316"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Supabase — PostgreSQL + GoTrue authentication</a:t>
            </a:r>
            <a:endParaRPr lang="en-US" sz="1750" dirty="0"/>
          </a:p>
        </p:txBody>
      </p:sp>
      <p:sp>
        <p:nvSpPr>
          <p:cNvPr id="18" name="Shape 16"/>
          <p:cNvSpPr/>
          <p:nvPr/>
        </p:nvSpPr>
        <p:spPr>
          <a:xfrm>
            <a:off x="7428548" y="5757743"/>
            <a:ext cx="6408063" cy="1669852"/>
          </a:xfrm>
          <a:prstGeom prst="roundRect">
            <a:avLst>
              <a:gd name="adj" fmla="val 2038"/>
            </a:avLst>
          </a:prstGeom>
          <a:solidFill>
            <a:srgbClr val="E5DFD2"/>
          </a:solidFill>
          <a:ln/>
        </p:spPr>
      </p:sp>
      <p:sp>
        <p:nvSpPr>
          <p:cNvPr id="19" name="Text 17"/>
          <p:cNvSpPr/>
          <p:nvPr/>
        </p:nvSpPr>
        <p:spPr>
          <a:xfrm>
            <a:off x="7655362" y="5984558"/>
            <a:ext cx="3370183"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Deployment &amp; Typography</a:t>
            </a:r>
            <a:endParaRPr lang="en-US" sz="2200" dirty="0"/>
          </a:p>
        </p:txBody>
      </p:sp>
      <p:sp>
        <p:nvSpPr>
          <p:cNvPr id="20" name="Text 18"/>
          <p:cNvSpPr/>
          <p:nvPr/>
        </p:nvSpPr>
        <p:spPr>
          <a:xfrm>
            <a:off x="7655362" y="6474976"/>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Vercel global CDN · Lora (serif, contracts) + Inter (sans-serif, UI)</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5683" y="778550"/>
            <a:ext cx="7316033" cy="630079"/>
          </a:xfrm>
          <a:prstGeom prst="rect">
            <a:avLst/>
          </a:prstGeom>
          <a:noFill/>
          <a:ln/>
        </p:spPr>
        <p:txBody>
          <a:bodyPr wrap="none" lIns="0" tIns="0" rIns="0" bIns="0" rtlCol="0" anchor="t"/>
          <a:lstStyle/>
          <a:p>
            <a:pPr algn="l" indent="0" marL="0">
              <a:lnSpc>
                <a:spcPts val="4950"/>
              </a:lnSpc>
              <a:buNone/>
            </a:pPr>
            <a:r>
              <a:rPr lang="en-US" sz="3950" b="1" dirty="0">
                <a:solidFill>
                  <a:srgbClr val="282824"/>
                </a:solidFill>
                <a:latin typeface="Lato Bold" pitchFamily="34" charset="0"/>
                <a:ea typeface="Lato Bold" pitchFamily="34" charset="-122"/>
                <a:cs typeface="Lato Bold" pitchFamily="34" charset="-120"/>
              </a:rPr>
              <a:t>Risk Cards — Actionable Insights</a:t>
            </a:r>
            <a:endParaRPr lang="en-US" sz="3950" dirty="0"/>
          </a:p>
        </p:txBody>
      </p:sp>
      <p:sp>
        <p:nvSpPr>
          <p:cNvPr id="3" name="Shape 1"/>
          <p:cNvSpPr/>
          <p:nvPr/>
        </p:nvSpPr>
        <p:spPr>
          <a:xfrm>
            <a:off x="705683" y="1767007"/>
            <a:ext cx="13219033" cy="796052"/>
          </a:xfrm>
          <a:prstGeom prst="roundRect">
            <a:avLst>
              <a:gd name="adj" fmla="val 3799"/>
            </a:avLst>
          </a:prstGeom>
          <a:solidFill>
            <a:srgbClr val="DBDBD7"/>
          </a:solidFill>
          <a:ln/>
        </p:spPr>
      </p:sp>
      <p:pic>
        <p:nvPicPr>
          <p:cNvPr id="4" name="Image 0" descr="preencoded.png">    </p:cNvPr>
          <p:cNvPicPr>
            <a:picLocks noChangeAspect="1"/>
          </p:cNvPicPr>
          <p:nvPr/>
        </p:nvPicPr>
        <p:blipFill>
          <a:blip r:embed="rId1"/>
          <a:stretch>
            <a:fillRect/>
          </a:stretch>
        </p:blipFill>
        <p:spPr>
          <a:xfrm>
            <a:off x="907256" y="2063472"/>
            <a:ext cx="251936" cy="201573"/>
          </a:xfrm>
          <a:prstGeom prst="rect">
            <a:avLst/>
          </a:prstGeom>
        </p:spPr>
      </p:pic>
      <p:sp>
        <p:nvSpPr>
          <p:cNvPr id="5" name="Text 2"/>
          <p:cNvSpPr/>
          <p:nvPr/>
        </p:nvSpPr>
        <p:spPr>
          <a:xfrm>
            <a:off x="1360765" y="1996559"/>
            <a:ext cx="12362378" cy="304562"/>
          </a:xfrm>
          <a:prstGeom prst="rect">
            <a:avLst/>
          </a:prstGeom>
          <a:noFill/>
          <a:ln/>
        </p:spPr>
        <p:txBody>
          <a:bodyPr wrap="none" lIns="0" tIns="0" rIns="0" bIns="0" rtlCol="0" anchor="t"/>
          <a:lstStyle/>
          <a:p>
            <a:pPr algn="l" indent="0" marL="0">
              <a:lnSpc>
                <a:spcPts val="2350"/>
              </a:lnSpc>
              <a:buNone/>
            </a:pPr>
            <a:r>
              <a:rPr lang="en-US" sz="1550" dirty="0">
                <a:solidFill>
                  <a:srgbClr val="000000"/>
                </a:solidFill>
                <a:latin typeface="Lato" pitchFamily="34" charset="0"/>
                <a:ea typeface="Lato" pitchFamily="34" charset="-122"/>
                <a:cs typeface="Lato" pitchFamily="34" charset="-120"/>
              </a:rPr>
              <a:t>Each flagged clause includes:</a:t>
            </a:r>
            <a:endParaRPr lang="en-US" sz="1550" dirty="0"/>
          </a:p>
        </p:txBody>
      </p:sp>
      <p:sp>
        <p:nvSpPr>
          <p:cNvPr id="6" name="Text 3"/>
          <p:cNvSpPr/>
          <p:nvPr/>
        </p:nvSpPr>
        <p:spPr>
          <a:xfrm>
            <a:off x="705683" y="2925842"/>
            <a:ext cx="6912054" cy="2507694"/>
          </a:xfrm>
          <a:prstGeom prst="rect">
            <a:avLst/>
          </a:prstGeom>
          <a:noFill/>
          <a:ln/>
        </p:spPr>
        <p:txBody>
          <a:bodyPr wrap="square" lIns="0" tIns="0" rIns="0" bIns="0" rtlCol="0" anchor="t"/>
          <a:lstStyle/>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Clear title (4–6 words)</a:t>
            </a:r>
            <a:endParaRPr lang="en-US" sz="1550" dirty="0"/>
          </a:p>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Severity badge: HIGH / MEDIUM / LOW</a:t>
            </a:r>
            <a:endParaRPr lang="en-US" sz="1550" dirty="0"/>
          </a:p>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Verbatim quote from the contract</a:t>
            </a:r>
            <a:endParaRPr lang="en-US" sz="1550" dirty="0"/>
          </a:p>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Plain-English explanation of the legal danger</a:t>
            </a:r>
            <a:endParaRPr lang="en-US" sz="1550" dirty="0"/>
          </a:p>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Real-world impact — specific financial or legal consequence</a:t>
            </a:r>
            <a:endParaRPr lang="en-US" sz="1550" dirty="0"/>
          </a:p>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Suggested fix — actionable alternative clause or negotiation point</a:t>
            </a:r>
            <a:endParaRPr lang="en-US" sz="1550" dirty="0"/>
          </a:p>
          <a:p>
            <a:pPr algn="l" marL="342900" indent="-342900">
              <a:lnSpc>
                <a:spcPts val="2350"/>
              </a:lnSpc>
              <a:buSzPct val="100000"/>
              <a:buChar char="•"/>
            </a:pPr>
            <a:r>
              <a:rPr lang="en-US" sz="1550" dirty="0">
                <a:solidFill>
                  <a:srgbClr val="4A4A45"/>
                </a:solidFill>
                <a:latin typeface="Lato" pitchFamily="34" charset="0"/>
                <a:ea typeface="Lato" pitchFamily="34" charset="-122"/>
                <a:cs typeface="Lato" pitchFamily="34" charset="-120"/>
              </a:rPr>
              <a:t>AI confidence score — animated progress bar</a:t>
            </a:r>
            <a:endParaRPr lang="en-US" sz="1550" dirty="0"/>
          </a:p>
        </p:txBody>
      </p:sp>
      <p:sp>
        <p:nvSpPr>
          <p:cNvPr id="7" name="Shape 4"/>
          <p:cNvSpPr/>
          <p:nvPr/>
        </p:nvSpPr>
        <p:spPr>
          <a:xfrm>
            <a:off x="7971949" y="2764631"/>
            <a:ext cx="6105406" cy="4686419"/>
          </a:xfrm>
          <a:prstGeom prst="roundRect">
            <a:avLst>
              <a:gd name="adj" fmla="val 645"/>
            </a:avLst>
          </a:prstGeom>
          <a:solidFill>
            <a:srgbClr val="1D1F22"/>
          </a:solidFill>
          <a:ln/>
        </p:spPr>
      </p:sp>
      <p:sp>
        <p:nvSpPr>
          <p:cNvPr id="8" name="Shape 5"/>
          <p:cNvSpPr/>
          <p:nvPr/>
        </p:nvSpPr>
        <p:spPr>
          <a:xfrm>
            <a:off x="8173522" y="2966204"/>
            <a:ext cx="5702260" cy="4283273"/>
          </a:xfrm>
          <a:prstGeom prst="roundRect">
            <a:avLst>
              <a:gd name="adj" fmla="val 706"/>
            </a:avLst>
          </a:prstGeom>
          <a:solidFill>
            <a:srgbClr val="E5DFD2"/>
          </a:solidFill>
          <a:ln/>
        </p:spPr>
      </p:sp>
      <p:sp>
        <p:nvSpPr>
          <p:cNvPr id="9" name="Shape 6"/>
          <p:cNvSpPr/>
          <p:nvPr/>
        </p:nvSpPr>
        <p:spPr>
          <a:xfrm>
            <a:off x="8173522" y="2966204"/>
            <a:ext cx="5702260" cy="4283273"/>
          </a:xfrm>
          <a:prstGeom prst="roundRect">
            <a:avLst>
              <a:gd name="adj" fmla="val 706"/>
            </a:avLst>
          </a:prstGeom>
          <a:solidFill>
            <a:srgbClr val="E5DFD2"/>
          </a:solidFill>
          <a:ln/>
        </p:spPr>
      </p:sp>
      <p:sp>
        <p:nvSpPr>
          <p:cNvPr id="10" name="Text 7"/>
          <p:cNvSpPr/>
          <p:nvPr/>
        </p:nvSpPr>
        <p:spPr>
          <a:xfrm>
            <a:off x="8375094" y="3167777"/>
            <a:ext cx="2520196" cy="315039"/>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Lato Bold" pitchFamily="34" charset="0"/>
                <a:ea typeface="Lato Bold" pitchFamily="34" charset="-122"/>
                <a:cs typeface="Lato Bold" pitchFamily="34" charset="-120"/>
              </a:rPr>
              <a:t>Example Risk Card</a:t>
            </a:r>
            <a:endParaRPr lang="en-US" sz="1950" dirty="0"/>
          </a:p>
        </p:txBody>
      </p:sp>
      <p:sp>
        <p:nvSpPr>
          <p:cNvPr id="11" name="Text 8"/>
          <p:cNvSpPr/>
          <p:nvPr/>
        </p:nvSpPr>
        <p:spPr>
          <a:xfrm>
            <a:off x="8375094" y="3662005"/>
            <a:ext cx="5299115" cy="304562"/>
          </a:xfrm>
          <a:prstGeom prst="rect">
            <a:avLst/>
          </a:prstGeom>
          <a:noFill/>
          <a:ln/>
        </p:spPr>
        <p:txBody>
          <a:bodyPr wrap="none" lIns="0" tIns="0" rIns="0" bIns="0" rtlCol="0" anchor="t"/>
          <a:lstStyle/>
          <a:p>
            <a:pPr algn="l" indent="0" marL="0">
              <a:lnSpc>
                <a:spcPts val="2350"/>
              </a:lnSpc>
              <a:buNone/>
            </a:pPr>
            <a:r>
              <a:rPr lang="en-US" sz="1550" b="1" dirty="0">
                <a:solidFill>
                  <a:srgbClr val="000000"/>
                </a:solidFill>
                <a:latin typeface="Lato" pitchFamily="34" charset="0"/>
                <a:ea typeface="Lato" pitchFamily="34" charset="-122"/>
                <a:cs typeface="Lato" pitchFamily="34" charset="-120"/>
              </a:rPr>
              <a:t>Title:</a:t>
            </a:r>
            <a:pPr algn="l" indent="0" marL="0">
              <a:lnSpc>
                <a:spcPts val="2350"/>
              </a:lnSpc>
              <a:buNone/>
            </a:pPr>
            <a:r>
              <a:rPr lang="en-US" sz="1550" dirty="0">
                <a:solidFill>
                  <a:srgbClr val="000000"/>
                </a:solidFill>
                <a:latin typeface="Lato" pitchFamily="34" charset="0"/>
                <a:ea typeface="Lato" pitchFamily="34" charset="-122"/>
                <a:cs typeface="Lato" pitchFamily="34" charset="-120"/>
              </a:rPr>
              <a:t> "IP Forfeiture Risk"</a:t>
            </a:r>
            <a:endParaRPr lang="en-US" sz="1550" dirty="0"/>
          </a:p>
        </p:txBody>
      </p:sp>
      <p:sp>
        <p:nvSpPr>
          <p:cNvPr id="12" name="Text 9"/>
          <p:cNvSpPr/>
          <p:nvPr/>
        </p:nvSpPr>
        <p:spPr>
          <a:xfrm>
            <a:off x="8375094" y="4127778"/>
            <a:ext cx="5299115" cy="304562"/>
          </a:xfrm>
          <a:prstGeom prst="rect">
            <a:avLst/>
          </a:prstGeom>
          <a:noFill/>
          <a:ln/>
        </p:spPr>
        <p:txBody>
          <a:bodyPr wrap="none" lIns="0" tIns="0" rIns="0" bIns="0" rtlCol="0" anchor="t"/>
          <a:lstStyle/>
          <a:p>
            <a:pPr algn="l" indent="0" marL="0">
              <a:lnSpc>
                <a:spcPts val="2350"/>
              </a:lnSpc>
              <a:buNone/>
            </a:pPr>
            <a:r>
              <a:rPr lang="en-US" sz="1550" b="1" dirty="0">
                <a:solidFill>
                  <a:srgbClr val="000000"/>
                </a:solidFill>
                <a:latin typeface="Lato" pitchFamily="34" charset="0"/>
                <a:ea typeface="Lato" pitchFamily="34" charset="-122"/>
                <a:cs typeface="Lato" pitchFamily="34" charset="-120"/>
              </a:rPr>
              <a:t>Level:</a:t>
            </a:r>
            <a:pPr algn="l" indent="0" marL="0">
              <a:lnSpc>
                <a:spcPts val="2350"/>
              </a:lnSpc>
              <a:buNone/>
            </a:pPr>
            <a:r>
              <a:rPr lang="en-US" sz="1550" dirty="0">
                <a:solidFill>
                  <a:srgbClr val="000000"/>
                </a:solidFill>
                <a:latin typeface="Lato" pitchFamily="34" charset="0"/>
                <a:ea typeface="Lato" pitchFamily="34" charset="-122"/>
                <a:cs typeface="Lato" pitchFamily="34" charset="-120"/>
              </a:rPr>
              <a:t> </a:t>
            </a:r>
            <a:pPr algn="l" indent="0" marL="0">
              <a:lnSpc>
                <a:spcPts val="2350"/>
              </a:lnSpc>
              <a:buNone/>
            </a:pPr>
            <a:r>
              <a:rPr lang="en-US" sz="1550" dirty="0">
                <a:solidFill>
                  <a:srgbClr val="FF4444"/>
                </a:solidFill>
                <a:latin typeface="Lato" pitchFamily="34" charset="0"/>
                <a:ea typeface="Lato" pitchFamily="34" charset="-122"/>
                <a:cs typeface="Lato" pitchFamily="34" charset="-120"/>
              </a:rPr>
              <a:t>HIGH</a:t>
            </a:r>
            <a:pPr algn="l" indent="0" marL="0">
              <a:lnSpc>
                <a:spcPts val="2350"/>
              </a:lnSpc>
              <a:buNone/>
            </a:pPr>
            <a:r>
              <a:rPr lang="en-US" sz="1550" dirty="0">
                <a:solidFill>
                  <a:srgbClr val="000000"/>
                </a:solidFill>
                <a:latin typeface="Lato" pitchFamily="34" charset="0"/>
                <a:ea typeface="Lato" pitchFamily="34" charset="-122"/>
                <a:cs typeface="Lato" pitchFamily="34" charset="-120"/>
              </a:rPr>
              <a:t> | Section 3</a:t>
            </a:r>
            <a:endParaRPr lang="en-US" sz="1550" dirty="0"/>
          </a:p>
        </p:txBody>
      </p:sp>
      <p:sp>
        <p:nvSpPr>
          <p:cNvPr id="13" name="Text 10"/>
          <p:cNvSpPr/>
          <p:nvPr/>
        </p:nvSpPr>
        <p:spPr>
          <a:xfrm>
            <a:off x="8375094" y="4593550"/>
            <a:ext cx="5299115" cy="609124"/>
          </a:xfrm>
          <a:prstGeom prst="rect">
            <a:avLst/>
          </a:prstGeom>
          <a:noFill/>
          <a:ln/>
        </p:spPr>
        <p:txBody>
          <a:bodyPr wrap="square" lIns="0" tIns="0" rIns="0" bIns="0" rtlCol="0" anchor="t"/>
          <a:lstStyle/>
          <a:p>
            <a:pPr algn="l" indent="0" marL="0">
              <a:lnSpc>
                <a:spcPts val="2350"/>
              </a:lnSpc>
              <a:buNone/>
            </a:pPr>
            <a:r>
              <a:rPr lang="en-US" sz="1550" b="1" dirty="0">
                <a:solidFill>
                  <a:srgbClr val="000000"/>
                </a:solidFill>
                <a:latin typeface="Lato" pitchFamily="34" charset="0"/>
                <a:ea typeface="Lato" pitchFamily="34" charset="-122"/>
                <a:cs typeface="Lato" pitchFamily="34" charset="-120"/>
              </a:rPr>
              <a:t>Quote:</a:t>
            </a:r>
            <a:pPr algn="l" indent="0" marL="0">
              <a:lnSpc>
                <a:spcPts val="2350"/>
              </a:lnSpc>
              <a:buNone/>
            </a:pPr>
            <a:r>
              <a:rPr lang="en-US" sz="1550" dirty="0">
                <a:solidFill>
                  <a:srgbClr val="000000"/>
                </a:solidFill>
                <a:latin typeface="Lato" pitchFamily="34" charset="0"/>
                <a:ea typeface="Lato" pitchFamily="34" charset="-122"/>
                <a:cs typeface="Lato" pitchFamily="34" charset="-120"/>
              </a:rPr>
              <a:t> </a:t>
            </a:r>
            <a:pPr algn="l" indent="0" marL="0">
              <a:lnSpc>
                <a:spcPts val="2350"/>
              </a:lnSpc>
              <a:buNone/>
            </a:pPr>
            <a:r>
              <a:rPr lang="en-US" sz="1550" i="1" dirty="0">
                <a:solidFill>
                  <a:srgbClr val="000000"/>
                </a:solidFill>
                <a:latin typeface="Lato" pitchFamily="34" charset="0"/>
                <a:ea typeface="Lato" pitchFamily="34" charset="-122"/>
                <a:cs typeface="Lato" pitchFamily="34" charset="-120"/>
              </a:rPr>
              <a:t>"All work product shall become the exclusive property of Company upon creation."</a:t>
            </a:r>
            <a:endParaRPr lang="en-US" sz="1550" dirty="0"/>
          </a:p>
        </p:txBody>
      </p:sp>
      <p:sp>
        <p:nvSpPr>
          <p:cNvPr id="14" name="Text 11"/>
          <p:cNvSpPr/>
          <p:nvPr/>
        </p:nvSpPr>
        <p:spPr>
          <a:xfrm>
            <a:off x="8375094" y="5363885"/>
            <a:ext cx="5299115" cy="913686"/>
          </a:xfrm>
          <a:prstGeom prst="rect">
            <a:avLst/>
          </a:prstGeom>
          <a:noFill/>
          <a:ln/>
        </p:spPr>
        <p:txBody>
          <a:bodyPr wrap="square" lIns="0" tIns="0" rIns="0" bIns="0" rtlCol="0" anchor="t"/>
          <a:lstStyle/>
          <a:p>
            <a:pPr algn="l" indent="0" marL="0">
              <a:lnSpc>
                <a:spcPts val="2350"/>
              </a:lnSpc>
              <a:buNone/>
            </a:pPr>
            <a:r>
              <a:rPr lang="en-US" sz="1550" b="1" dirty="0">
                <a:solidFill>
                  <a:srgbClr val="000000"/>
                </a:solidFill>
                <a:latin typeface="Lato" pitchFamily="34" charset="0"/>
                <a:ea typeface="Lato" pitchFamily="34" charset="-122"/>
                <a:cs typeface="Lato" pitchFamily="34" charset="-120"/>
              </a:rPr>
              <a:t>Impact:</a:t>
            </a:r>
            <a:pPr algn="l" indent="0" marL="0">
              <a:lnSpc>
                <a:spcPts val="2350"/>
              </a:lnSpc>
              <a:buNone/>
            </a:pPr>
            <a:r>
              <a:rPr lang="en-US" sz="1550" dirty="0">
                <a:solidFill>
                  <a:srgbClr val="000000"/>
                </a:solidFill>
                <a:latin typeface="Lato" pitchFamily="34" charset="0"/>
                <a:ea typeface="Lato" pitchFamily="34" charset="-122"/>
                <a:cs typeface="Lato" pitchFamily="34" charset="-120"/>
              </a:rPr>
              <a:t> You permanently lose all rights to code, designs, and inventions created during the engagement — including pre-existing tools.</a:t>
            </a:r>
            <a:endParaRPr lang="en-US" sz="1550" dirty="0"/>
          </a:p>
        </p:txBody>
      </p:sp>
      <p:sp>
        <p:nvSpPr>
          <p:cNvPr id="15" name="Text 12"/>
          <p:cNvSpPr/>
          <p:nvPr/>
        </p:nvSpPr>
        <p:spPr>
          <a:xfrm>
            <a:off x="8375094" y="6438781"/>
            <a:ext cx="5299115" cy="609124"/>
          </a:xfrm>
          <a:prstGeom prst="rect">
            <a:avLst/>
          </a:prstGeom>
          <a:noFill/>
          <a:ln/>
        </p:spPr>
        <p:txBody>
          <a:bodyPr wrap="square" lIns="0" tIns="0" rIns="0" bIns="0" rtlCol="0" anchor="t"/>
          <a:lstStyle/>
          <a:p>
            <a:pPr algn="l" indent="0" marL="0">
              <a:lnSpc>
                <a:spcPts val="2350"/>
              </a:lnSpc>
              <a:buNone/>
            </a:pPr>
            <a:r>
              <a:rPr lang="en-US" sz="1550" b="1" dirty="0">
                <a:solidFill>
                  <a:srgbClr val="000000"/>
                </a:solidFill>
                <a:latin typeface="Lato" pitchFamily="34" charset="0"/>
                <a:ea typeface="Lato" pitchFamily="34" charset="-122"/>
                <a:cs typeface="Lato" pitchFamily="34" charset="-120"/>
              </a:rPr>
              <a:t>Fix:</a:t>
            </a:r>
            <a:pPr algn="l" indent="0" marL="0">
              <a:lnSpc>
                <a:spcPts val="2350"/>
              </a:lnSpc>
              <a:buNone/>
            </a:pPr>
            <a:r>
              <a:rPr lang="en-US" sz="1550" dirty="0">
                <a:solidFill>
                  <a:srgbClr val="000000"/>
                </a:solidFill>
                <a:latin typeface="Lato" pitchFamily="34" charset="0"/>
                <a:ea typeface="Lato" pitchFamily="34" charset="-122"/>
                <a:cs typeface="Lato" pitchFamily="34" charset="-120"/>
              </a:rPr>
              <a:t> Limit IP assignment to work specifically created for this client under this agreement.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11781"/>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Technical Innovations</a:t>
            </a:r>
            <a:endParaRPr lang="en-US" sz="4450" dirty="0"/>
          </a:p>
        </p:txBody>
      </p:sp>
      <p:sp>
        <p:nvSpPr>
          <p:cNvPr id="3" name="Text 1"/>
          <p:cNvSpPr/>
          <p:nvPr/>
        </p:nvSpPr>
        <p:spPr>
          <a:xfrm>
            <a:off x="793790" y="207418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LexScan delivers precision and performance that generic AI tools simply cannot match, setting a new standard for contract analysis:</a:t>
            </a:r>
            <a:endParaRPr lang="en-US" sz="1750" dirty="0"/>
          </a:p>
        </p:txBody>
      </p:sp>
      <p:sp>
        <p:nvSpPr>
          <p:cNvPr id="4" name="Shape 2"/>
          <p:cNvSpPr/>
          <p:nvPr/>
        </p:nvSpPr>
        <p:spPr>
          <a:xfrm>
            <a:off x="793790" y="2692241"/>
            <a:ext cx="4196358" cy="4625459"/>
          </a:xfrm>
          <a:prstGeom prst="roundRect">
            <a:avLst>
              <a:gd name="adj" fmla="val 3486"/>
            </a:avLst>
          </a:prstGeom>
          <a:solidFill>
            <a:srgbClr val="EFECE6"/>
          </a:solidFill>
          <a:ln w="30480">
            <a:solidFill>
              <a:srgbClr val="CBC5B8"/>
            </a:solidFill>
            <a:prstDash val="solid"/>
          </a:ln>
        </p:spPr>
      </p:sp>
      <p:sp>
        <p:nvSpPr>
          <p:cNvPr id="5" name="Shape 3"/>
          <p:cNvSpPr/>
          <p:nvPr/>
        </p:nvSpPr>
        <p:spPr>
          <a:xfrm>
            <a:off x="763310" y="2692241"/>
            <a:ext cx="121920" cy="4625459"/>
          </a:xfrm>
          <a:prstGeom prst="roundRect">
            <a:avLst>
              <a:gd name="adj" fmla="val 27907"/>
            </a:avLst>
          </a:prstGeom>
          <a:solidFill>
            <a:srgbClr val="282824"/>
          </a:solidFill>
          <a:ln/>
        </p:spPr>
      </p:sp>
      <p:sp>
        <p:nvSpPr>
          <p:cNvPr id="6" name="Text 4"/>
          <p:cNvSpPr/>
          <p:nvPr/>
        </p:nvSpPr>
        <p:spPr>
          <a:xfrm>
            <a:off x="1142524" y="2949535"/>
            <a:ext cx="3590330" cy="708660"/>
          </a:xfrm>
          <a:prstGeom prst="rect">
            <a:avLst/>
          </a:prstGeom>
          <a:noFill/>
          <a:ln/>
        </p:spPr>
        <p:txBody>
          <a:bodyPr wrap="squar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5-Level Text Matching Cascade</a:t>
            </a:r>
            <a:endParaRPr lang="en-US" sz="2200" dirty="0"/>
          </a:p>
        </p:txBody>
      </p:sp>
      <p:sp>
        <p:nvSpPr>
          <p:cNvPr id="7" name="Text 5"/>
          <p:cNvSpPr/>
          <p:nvPr/>
        </p:nvSpPr>
        <p:spPr>
          <a:xfrm>
            <a:off x="1142524" y="3794284"/>
            <a:ext cx="3590330" cy="3266123"/>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Our proprietary cascade engine navigates complex document formats with surgical precision. By layering five distinct matching techniques—from exact phrasing to advanced OCR noise correction—we achieve near-100% highlight accuracy, even on low-quality or heavily scanned files.</a:t>
            </a:r>
            <a:endParaRPr lang="en-US" sz="1750" dirty="0"/>
          </a:p>
        </p:txBody>
      </p:sp>
      <p:sp>
        <p:nvSpPr>
          <p:cNvPr id="8" name="Shape 6"/>
          <p:cNvSpPr/>
          <p:nvPr/>
        </p:nvSpPr>
        <p:spPr>
          <a:xfrm>
            <a:off x="5216962" y="2692241"/>
            <a:ext cx="4196358" cy="4625459"/>
          </a:xfrm>
          <a:prstGeom prst="roundRect">
            <a:avLst>
              <a:gd name="adj" fmla="val 3486"/>
            </a:avLst>
          </a:prstGeom>
          <a:solidFill>
            <a:srgbClr val="EFECE6"/>
          </a:solidFill>
          <a:ln w="30480">
            <a:solidFill>
              <a:srgbClr val="CBC5B8"/>
            </a:solidFill>
            <a:prstDash val="solid"/>
          </a:ln>
        </p:spPr>
      </p:sp>
      <p:sp>
        <p:nvSpPr>
          <p:cNvPr id="9" name="Shape 7"/>
          <p:cNvSpPr/>
          <p:nvPr/>
        </p:nvSpPr>
        <p:spPr>
          <a:xfrm>
            <a:off x="5186482" y="2692241"/>
            <a:ext cx="121920" cy="4625459"/>
          </a:xfrm>
          <a:prstGeom prst="roundRect">
            <a:avLst>
              <a:gd name="adj" fmla="val 27907"/>
            </a:avLst>
          </a:prstGeom>
          <a:solidFill>
            <a:srgbClr val="282824"/>
          </a:solidFill>
          <a:ln/>
        </p:spPr>
      </p:sp>
      <p:sp>
        <p:nvSpPr>
          <p:cNvPr id="10" name="Text 8"/>
          <p:cNvSpPr/>
          <p:nvPr/>
        </p:nvSpPr>
        <p:spPr>
          <a:xfrm>
            <a:off x="5565696" y="2949535"/>
            <a:ext cx="3386138"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Structured LLM Prompting</a:t>
            </a:r>
            <a:endParaRPr lang="en-US" sz="2200" dirty="0"/>
          </a:p>
        </p:txBody>
      </p:sp>
      <p:sp>
        <p:nvSpPr>
          <p:cNvPr id="11" name="Text 9"/>
          <p:cNvSpPr/>
          <p:nvPr/>
        </p:nvSpPr>
        <p:spPr>
          <a:xfrm>
            <a:off x="5565696" y="3439954"/>
            <a:ext cx="3590330" cy="3266123"/>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We eliminate hallucinations by enforcing rigid, audit-ready data structures. Every analysis is constrained by strict JSONL formatting and verifiable, verbatim quoting, ensuring that every identified risk is anchored in the actual contract text with six structured diagnostic fields.</a:t>
            </a:r>
            <a:endParaRPr lang="en-US" sz="1750" dirty="0"/>
          </a:p>
        </p:txBody>
      </p:sp>
      <p:sp>
        <p:nvSpPr>
          <p:cNvPr id="12" name="Shape 10"/>
          <p:cNvSpPr/>
          <p:nvPr/>
        </p:nvSpPr>
        <p:spPr>
          <a:xfrm>
            <a:off x="9640133" y="2692241"/>
            <a:ext cx="4196358" cy="4625459"/>
          </a:xfrm>
          <a:prstGeom prst="roundRect">
            <a:avLst>
              <a:gd name="adj" fmla="val 3486"/>
            </a:avLst>
          </a:prstGeom>
          <a:solidFill>
            <a:srgbClr val="EFECE6"/>
          </a:solidFill>
          <a:ln w="30480">
            <a:solidFill>
              <a:srgbClr val="CBC5B8"/>
            </a:solidFill>
            <a:prstDash val="solid"/>
          </a:ln>
        </p:spPr>
      </p:sp>
      <p:sp>
        <p:nvSpPr>
          <p:cNvPr id="13" name="Shape 11"/>
          <p:cNvSpPr/>
          <p:nvPr/>
        </p:nvSpPr>
        <p:spPr>
          <a:xfrm>
            <a:off x="9609653" y="2692241"/>
            <a:ext cx="121920" cy="4625459"/>
          </a:xfrm>
          <a:prstGeom prst="roundRect">
            <a:avLst>
              <a:gd name="adj" fmla="val 27907"/>
            </a:avLst>
          </a:prstGeom>
          <a:solidFill>
            <a:srgbClr val="282824"/>
          </a:solidFill>
          <a:ln/>
        </p:spPr>
      </p:sp>
      <p:sp>
        <p:nvSpPr>
          <p:cNvPr id="14" name="Text 12"/>
          <p:cNvSpPr/>
          <p:nvPr/>
        </p:nvSpPr>
        <p:spPr>
          <a:xfrm>
            <a:off x="9988868" y="2949535"/>
            <a:ext cx="2979420"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Streaming Architecture</a:t>
            </a:r>
            <a:endParaRPr lang="en-US" sz="2200" dirty="0"/>
          </a:p>
        </p:txBody>
      </p:sp>
      <p:sp>
        <p:nvSpPr>
          <p:cNvPr id="15" name="Text 13"/>
          <p:cNvSpPr/>
          <p:nvPr/>
        </p:nvSpPr>
        <p:spPr>
          <a:xfrm>
            <a:off x="9988868" y="3439954"/>
            <a:ext cx="3590330" cy="3266123"/>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We prioritize your workflow with a near-instant user experience. By streaming analysis and risk identification in real-time, we slash perceived wait times by 80%, providing you with immediate, actionable insights rather than forcing you to wait for a full document render.</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93488"/>
          </a:xfrm>
          <a:prstGeom prst="rect">
            <a:avLst/>
          </a:prstGeom>
        </p:spPr>
      </p:pic>
      <p:pic>
        <p:nvPicPr>
          <p:cNvPr id="3" name="Image 1" descr="preencoded.png">    </p:cNvPr>
          <p:cNvPicPr>
            <a:picLocks noChangeAspect="1"/>
          </p:cNvPicPr>
          <p:nvPr/>
        </p:nvPicPr>
        <p:blipFill>
          <a:blip r:embed="rId2"/>
          <a:stretch>
            <a:fillRect/>
          </a:stretch>
        </p:blipFill>
        <p:spPr>
          <a:xfrm>
            <a:off x="5467945" y="219313"/>
            <a:ext cx="3694390" cy="1754862"/>
          </a:xfrm>
          <a:prstGeom prst="rect">
            <a:avLst/>
          </a:prstGeom>
        </p:spPr>
      </p:pic>
      <p:sp>
        <p:nvSpPr>
          <p:cNvPr id="4" name="Text 0"/>
          <p:cNvSpPr/>
          <p:nvPr/>
        </p:nvSpPr>
        <p:spPr>
          <a:xfrm>
            <a:off x="1260991" y="3066217"/>
            <a:ext cx="4386977" cy="548402"/>
          </a:xfrm>
          <a:prstGeom prst="rect">
            <a:avLst/>
          </a:prstGeom>
          <a:noFill/>
          <a:ln/>
        </p:spPr>
        <p:txBody>
          <a:bodyPr wrap="none" lIns="0" tIns="0" rIns="0" bIns="0" rtlCol="0" anchor="t"/>
          <a:lstStyle/>
          <a:p>
            <a:pPr algn="l" indent="0" marL="0">
              <a:lnSpc>
                <a:spcPts val="4300"/>
              </a:lnSpc>
              <a:buNone/>
            </a:pPr>
            <a:r>
              <a:rPr lang="en-US" sz="3450" b="1" dirty="0">
                <a:solidFill>
                  <a:srgbClr val="282824"/>
                </a:solidFill>
                <a:latin typeface="Lato Bold" pitchFamily="34" charset="0"/>
                <a:ea typeface="Lato Bold" pitchFamily="34" charset="-122"/>
                <a:cs typeface="Lato Bold" pitchFamily="34" charset="-120"/>
              </a:rPr>
              <a:t>Mobile &amp; UI Design</a:t>
            </a:r>
            <a:endParaRPr lang="en-US" sz="3450" dirty="0"/>
          </a:p>
        </p:txBody>
      </p:sp>
      <p:sp>
        <p:nvSpPr>
          <p:cNvPr id="5" name="Text 1"/>
          <p:cNvSpPr/>
          <p:nvPr/>
        </p:nvSpPr>
        <p:spPr>
          <a:xfrm>
            <a:off x="1260991" y="3818215"/>
            <a:ext cx="12108299" cy="248960"/>
          </a:xfrm>
          <a:prstGeom prst="rect">
            <a:avLst/>
          </a:prstGeom>
          <a:noFill/>
          <a:ln/>
        </p:spPr>
        <p:txBody>
          <a:bodyPr wrap="none" lIns="0" tIns="0" rIns="0" bIns="0" rtlCol="0" anchor="t"/>
          <a:lstStyle/>
          <a:p>
            <a:pPr algn="l" indent="0" marL="0">
              <a:lnSpc>
                <a:spcPts val="1950"/>
              </a:lnSpc>
              <a:buNone/>
            </a:pPr>
            <a:r>
              <a:rPr lang="en-US" sz="1350" dirty="0">
                <a:solidFill>
                  <a:srgbClr val="4A4A45"/>
                </a:solidFill>
                <a:latin typeface="Lato" pitchFamily="34" charset="0"/>
                <a:ea typeface="Lato" pitchFamily="34" charset="-122"/>
                <a:cs typeface="Lato" pitchFamily="34" charset="-120"/>
              </a:rPr>
              <a:t>Premium legal-tech aesthetic across all devices.</a:t>
            </a:r>
            <a:endParaRPr lang="en-US" sz="1350" dirty="0"/>
          </a:p>
        </p:txBody>
      </p:sp>
      <p:sp>
        <p:nvSpPr>
          <p:cNvPr id="6" name="Shape 2"/>
          <p:cNvSpPr/>
          <p:nvPr/>
        </p:nvSpPr>
        <p:spPr>
          <a:xfrm>
            <a:off x="1260991" y="4219813"/>
            <a:ext cx="12108299" cy="3136940"/>
          </a:xfrm>
          <a:prstGeom prst="roundRect">
            <a:avLst>
              <a:gd name="adj" fmla="val 839"/>
            </a:avLst>
          </a:prstGeom>
          <a:solidFill>
            <a:srgbClr val="E5DFD2"/>
          </a:solidFill>
          <a:ln/>
        </p:spPr>
      </p:sp>
      <p:sp>
        <p:nvSpPr>
          <p:cNvPr id="7" name="Shape 3"/>
          <p:cNvSpPr/>
          <p:nvPr/>
        </p:nvSpPr>
        <p:spPr>
          <a:xfrm>
            <a:off x="1260991" y="4219813"/>
            <a:ext cx="4036100" cy="3136940"/>
          </a:xfrm>
          <a:prstGeom prst="roundRect">
            <a:avLst>
              <a:gd name="adj" fmla="val 839"/>
            </a:avLst>
          </a:prstGeom>
          <a:solidFill>
            <a:srgbClr val="E5DFD2"/>
          </a:solidFill>
          <a:ln/>
        </p:spPr>
      </p:sp>
      <p:sp>
        <p:nvSpPr>
          <p:cNvPr id="8" name="Text 4"/>
          <p:cNvSpPr/>
          <p:nvPr/>
        </p:nvSpPr>
        <p:spPr>
          <a:xfrm>
            <a:off x="1436370" y="4395192"/>
            <a:ext cx="2193488" cy="274082"/>
          </a:xfrm>
          <a:prstGeom prst="rect">
            <a:avLst/>
          </a:prstGeom>
          <a:noFill/>
          <a:ln/>
        </p:spPr>
        <p:txBody>
          <a:bodyPr wrap="none" lIns="0" tIns="0" rIns="0" bIns="0" rtlCol="0" anchor="t"/>
          <a:lstStyle/>
          <a:p>
            <a:pPr algn="l" indent="0" marL="0">
              <a:lnSpc>
                <a:spcPts val="2150"/>
              </a:lnSpc>
              <a:buNone/>
            </a:pPr>
            <a:r>
              <a:rPr lang="en-US" sz="1700" b="1" dirty="0">
                <a:solidFill>
                  <a:srgbClr val="4A4A45"/>
                </a:solidFill>
                <a:latin typeface="Lato Bold" pitchFamily="34" charset="0"/>
                <a:ea typeface="Lato Bold" pitchFamily="34" charset="-122"/>
                <a:cs typeface="Lato Bold" pitchFamily="34" charset="-120"/>
              </a:rPr>
              <a:t>Design System</a:t>
            </a:r>
            <a:endParaRPr lang="en-US" sz="1700" dirty="0"/>
          </a:p>
        </p:txBody>
      </p:sp>
      <p:sp>
        <p:nvSpPr>
          <p:cNvPr id="9" name="Text 5"/>
          <p:cNvSpPr/>
          <p:nvPr/>
        </p:nvSpPr>
        <p:spPr>
          <a:xfrm>
            <a:off x="1436370" y="4750713"/>
            <a:ext cx="3685342" cy="1588770"/>
          </a:xfrm>
          <a:prstGeom prst="rect">
            <a:avLst/>
          </a:prstGeom>
          <a:noFill/>
          <a:ln/>
        </p:spPr>
        <p:txBody>
          <a:bodyPr wrap="square" lIns="0" tIns="0" rIns="0" bIns="0" rtlCol="0" anchor="t"/>
          <a:lstStyle/>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Dark theme: Deep navy + gold accent (#C8A96E)</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Light theme: Warm parchment (#F5F3EE) + rich gold</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Typography: Lora serif for contract text, Inter for UI</a:t>
            </a:r>
            <a:endParaRPr lang="en-US" sz="1350" dirty="0"/>
          </a:p>
        </p:txBody>
      </p:sp>
      <p:sp>
        <p:nvSpPr>
          <p:cNvPr id="10" name="Shape 6"/>
          <p:cNvSpPr/>
          <p:nvPr/>
        </p:nvSpPr>
        <p:spPr>
          <a:xfrm>
            <a:off x="5297091" y="4219813"/>
            <a:ext cx="4036100" cy="3136940"/>
          </a:xfrm>
          <a:prstGeom prst="rect">
            <a:avLst/>
          </a:prstGeom>
          <a:solidFill>
            <a:srgbClr val="E5DFD2"/>
          </a:solidFill>
          <a:ln/>
        </p:spPr>
      </p:sp>
      <p:sp>
        <p:nvSpPr>
          <p:cNvPr id="11" name="Shape 7"/>
          <p:cNvSpPr/>
          <p:nvPr/>
        </p:nvSpPr>
        <p:spPr>
          <a:xfrm>
            <a:off x="5297091" y="4219813"/>
            <a:ext cx="22860" cy="3136940"/>
          </a:xfrm>
          <a:prstGeom prst="roundRect">
            <a:avLst>
              <a:gd name="adj" fmla="val 115146"/>
            </a:avLst>
          </a:prstGeom>
          <a:solidFill>
            <a:srgbClr val="CBC5B8"/>
          </a:solidFill>
          <a:ln/>
        </p:spPr>
      </p:sp>
      <p:sp>
        <p:nvSpPr>
          <p:cNvPr id="12" name="Text 8"/>
          <p:cNvSpPr/>
          <p:nvPr/>
        </p:nvSpPr>
        <p:spPr>
          <a:xfrm>
            <a:off x="5472470" y="4395192"/>
            <a:ext cx="2193488" cy="274082"/>
          </a:xfrm>
          <a:prstGeom prst="rect">
            <a:avLst/>
          </a:prstGeom>
          <a:noFill/>
          <a:ln/>
        </p:spPr>
        <p:txBody>
          <a:bodyPr wrap="none" lIns="0" tIns="0" rIns="0" bIns="0" rtlCol="0" anchor="t"/>
          <a:lstStyle/>
          <a:p>
            <a:pPr algn="l" indent="0" marL="0">
              <a:lnSpc>
                <a:spcPts val="2150"/>
              </a:lnSpc>
              <a:buNone/>
            </a:pPr>
            <a:r>
              <a:rPr lang="en-US" sz="1700" b="1" dirty="0">
                <a:solidFill>
                  <a:srgbClr val="4A4A45"/>
                </a:solidFill>
                <a:latin typeface="Lato Bold" pitchFamily="34" charset="0"/>
                <a:ea typeface="Lato Bold" pitchFamily="34" charset="-122"/>
                <a:cs typeface="Lato Bold" pitchFamily="34" charset="-120"/>
              </a:rPr>
              <a:t>Mobile Features</a:t>
            </a:r>
            <a:endParaRPr lang="en-US" sz="1700" dirty="0"/>
          </a:p>
        </p:txBody>
      </p:sp>
      <p:sp>
        <p:nvSpPr>
          <p:cNvPr id="13" name="Text 9"/>
          <p:cNvSpPr/>
          <p:nvPr/>
        </p:nvSpPr>
        <p:spPr>
          <a:xfrm>
            <a:off x="5472470" y="4750713"/>
            <a:ext cx="3685342" cy="2430661"/>
          </a:xfrm>
          <a:prstGeom prst="rect">
            <a:avLst/>
          </a:prstGeom>
          <a:noFill/>
          <a:ln/>
        </p:spPr>
        <p:txBody>
          <a:bodyPr wrap="square" lIns="0" tIns="0" rIns="0" bIns="0" rtlCol="0" anchor="t"/>
          <a:lstStyle/>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Hamburger → spring-animated slide-in drawer</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Bottom tab navigation: Contract / Risks (count) / Ask AI</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Score banner always visible on mobile</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Touch-optimized: 16px+ inputs prevent iOS zoom</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Safe area support for iPhone notch (viewport-fit=cover)</a:t>
            </a:r>
            <a:endParaRPr lang="en-US" sz="1350" dirty="0"/>
          </a:p>
        </p:txBody>
      </p:sp>
      <p:sp>
        <p:nvSpPr>
          <p:cNvPr id="14" name="Shape 10"/>
          <p:cNvSpPr/>
          <p:nvPr/>
        </p:nvSpPr>
        <p:spPr>
          <a:xfrm>
            <a:off x="9333190" y="4219813"/>
            <a:ext cx="4036100" cy="3136940"/>
          </a:xfrm>
          <a:prstGeom prst="rect">
            <a:avLst/>
          </a:prstGeom>
          <a:solidFill>
            <a:srgbClr val="E5DFD2"/>
          </a:solidFill>
          <a:ln/>
        </p:spPr>
      </p:sp>
      <p:sp>
        <p:nvSpPr>
          <p:cNvPr id="15" name="Shape 11"/>
          <p:cNvSpPr/>
          <p:nvPr/>
        </p:nvSpPr>
        <p:spPr>
          <a:xfrm>
            <a:off x="9333190" y="4219813"/>
            <a:ext cx="22860" cy="3136940"/>
          </a:xfrm>
          <a:prstGeom prst="roundRect">
            <a:avLst>
              <a:gd name="adj" fmla="val 115146"/>
            </a:avLst>
          </a:prstGeom>
          <a:solidFill>
            <a:srgbClr val="CBC5B8"/>
          </a:solidFill>
          <a:ln/>
        </p:spPr>
      </p:sp>
      <p:sp>
        <p:nvSpPr>
          <p:cNvPr id="16" name="Text 12"/>
          <p:cNvSpPr/>
          <p:nvPr/>
        </p:nvSpPr>
        <p:spPr>
          <a:xfrm>
            <a:off x="9508569" y="4395192"/>
            <a:ext cx="2193488" cy="274082"/>
          </a:xfrm>
          <a:prstGeom prst="rect">
            <a:avLst/>
          </a:prstGeom>
          <a:noFill/>
          <a:ln/>
        </p:spPr>
        <p:txBody>
          <a:bodyPr wrap="none" lIns="0" tIns="0" rIns="0" bIns="0" rtlCol="0" anchor="t"/>
          <a:lstStyle/>
          <a:p>
            <a:pPr algn="l" indent="0" marL="0">
              <a:lnSpc>
                <a:spcPts val="2150"/>
              </a:lnSpc>
              <a:buNone/>
            </a:pPr>
            <a:r>
              <a:rPr lang="en-US" sz="1700" b="1" dirty="0">
                <a:solidFill>
                  <a:srgbClr val="4A4A45"/>
                </a:solidFill>
                <a:latin typeface="Lato Bold" pitchFamily="34" charset="0"/>
                <a:ea typeface="Lato Bold" pitchFamily="34" charset="-122"/>
                <a:cs typeface="Lato Bold" pitchFamily="34" charset="-120"/>
              </a:rPr>
              <a:t>Loading States</a:t>
            </a:r>
            <a:endParaRPr lang="en-US" sz="1700" dirty="0"/>
          </a:p>
        </p:txBody>
      </p:sp>
      <p:sp>
        <p:nvSpPr>
          <p:cNvPr id="17" name="Text 13"/>
          <p:cNvSpPr/>
          <p:nvPr/>
        </p:nvSpPr>
        <p:spPr>
          <a:xfrm>
            <a:off x="9508569" y="4750713"/>
            <a:ext cx="3685342" cy="1339810"/>
          </a:xfrm>
          <a:prstGeom prst="rect">
            <a:avLst/>
          </a:prstGeom>
          <a:noFill/>
          <a:ln/>
        </p:spPr>
        <p:txBody>
          <a:bodyPr wrap="square" lIns="0" tIns="0" rIns="0" bIns="0" rtlCol="0" anchor="t"/>
          <a:lstStyle/>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Shimmer skeleton for contract text, risk cards, score banner</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Animated SVG ring fills as score is revealed</a:t>
            </a:r>
            <a:endParaRPr lang="en-US" sz="1350" dirty="0"/>
          </a:p>
          <a:p>
            <a:pPr algn="l" marL="342900" indent="-342900">
              <a:lnSpc>
                <a:spcPts val="1950"/>
              </a:lnSpc>
              <a:buSzPct val="100000"/>
              <a:buChar char="•"/>
            </a:pPr>
            <a:r>
              <a:rPr lang="en-US" sz="1350" dirty="0">
                <a:solidFill>
                  <a:srgbClr val="4A4A45"/>
                </a:solidFill>
                <a:latin typeface="Lato" pitchFamily="34" charset="0"/>
                <a:ea typeface="Lato" pitchFamily="34" charset="-122"/>
                <a:cs typeface="Lato" pitchFamily="34" charset="-120"/>
              </a:rPr>
              <a:t>Progressive risk card animation (spring physics)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28424" y="745093"/>
            <a:ext cx="1356598" cy="395288"/>
          </a:xfrm>
          <a:prstGeom prst="roundRect">
            <a:avLst>
              <a:gd name="adj" fmla="val 6318"/>
            </a:avLst>
          </a:prstGeom>
          <a:noFill/>
          <a:ln w="7620">
            <a:solidFill>
              <a:srgbClr val="282824"/>
            </a:solidFill>
            <a:prstDash val="solid"/>
          </a:ln>
        </p:spPr>
      </p:sp>
      <p:sp>
        <p:nvSpPr>
          <p:cNvPr id="3" name="Text 1"/>
          <p:cNvSpPr/>
          <p:nvPr/>
        </p:nvSpPr>
        <p:spPr>
          <a:xfrm>
            <a:off x="860822" y="815102"/>
            <a:ext cx="1091803" cy="255270"/>
          </a:xfrm>
          <a:prstGeom prst="rect">
            <a:avLst/>
          </a:prstGeom>
          <a:noFill/>
          <a:ln/>
        </p:spPr>
        <p:txBody>
          <a:bodyPr wrap="none" lIns="0" tIns="0" rIns="0" bIns="0" rtlCol="0" anchor="t"/>
          <a:lstStyle/>
          <a:p>
            <a:pPr algn="l" indent="0" marL="0">
              <a:lnSpc>
                <a:spcPts val="2000"/>
              </a:lnSpc>
              <a:buNone/>
            </a:pPr>
            <a:r>
              <a:rPr lang="en-US" sz="1300" dirty="0">
                <a:solidFill>
                  <a:srgbClr val="282824"/>
                </a:solidFill>
                <a:latin typeface="Lato" pitchFamily="34" charset="0"/>
                <a:ea typeface="Lato" pitchFamily="34" charset="-122"/>
                <a:cs typeface="Lato" pitchFamily="34" charset="-120"/>
              </a:rPr>
              <a:t>CONCLUSION</a:t>
            </a:r>
            <a:endParaRPr lang="en-US" sz="1300" dirty="0"/>
          </a:p>
        </p:txBody>
      </p:sp>
      <p:sp>
        <p:nvSpPr>
          <p:cNvPr id="4" name="Shape 2"/>
          <p:cNvSpPr/>
          <p:nvPr/>
        </p:nvSpPr>
        <p:spPr>
          <a:xfrm>
            <a:off x="2189083" y="745093"/>
            <a:ext cx="1104067" cy="395288"/>
          </a:xfrm>
          <a:prstGeom prst="roundRect">
            <a:avLst>
              <a:gd name="adj" fmla="val 6318"/>
            </a:avLst>
          </a:prstGeom>
          <a:noFill/>
          <a:ln w="7620">
            <a:solidFill>
              <a:srgbClr val="282824"/>
            </a:solidFill>
            <a:prstDash val="solid"/>
          </a:ln>
        </p:spPr>
      </p:sp>
      <p:sp>
        <p:nvSpPr>
          <p:cNvPr id="5" name="Text 3"/>
          <p:cNvSpPr/>
          <p:nvPr/>
        </p:nvSpPr>
        <p:spPr>
          <a:xfrm>
            <a:off x="2321481" y="815102"/>
            <a:ext cx="839272" cy="255270"/>
          </a:xfrm>
          <a:prstGeom prst="rect">
            <a:avLst/>
          </a:prstGeom>
          <a:noFill/>
          <a:ln/>
        </p:spPr>
        <p:txBody>
          <a:bodyPr wrap="none" lIns="0" tIns="0" rIns="0" bIns="0" rtlCol="0" anchor="t"/>
          <a:lstStyle/>
          <a:p>
            <a:pPr algn="l" indent="0" marL="0">
              <a:lnSpc>
                <a:spcPts val="2000"/>
              </a:lnSpc>
              <a:buNone/>
            </a:pPr>
            <a:r>
              <a:rPr lang="en-US" sz="1300" dirty="0">
                <a:solidFill>
                  <a:srgbClr val="282824"/>
                </a:solidFill>
                <a:latin typeface="Lato" pitchFamily="34" charset="0"/>
                <a:ea typeface="Lato" pitchFamily="34" charset="-122"/>
                <a:cs typeface="Lato" pitchFamily="34" charset="-120"/>
              </a:rPr>
              <a:t>ROADMAP</a:t>
            </a:r>
            <a:endParaRPr lang="en-US" sz="1300" dirty="0"/>
          </a:p>
        </p:txBody>
      </p:sp>
      <p:sp>
        <p:nvSpPr>
          <p:cNvPr id="6" name="Text 4"/>
          <p:cNvSpPr/>
          <p:nvPr/>
        </p:nvSpPr>
        <p:spPr>
          <a:xfrm>
            <a:off x="728424" y="1216700"/>
            <a:ext cx="5366742" cy="650319"/>
          </a:xfrm>
          <a:prstGeom prst="rect">
            <a:avLst/>
          </a:prstGeom>
          <a:noFill/>
          <a:ln/>
        </p:spPr>
        <p:txBody>
          <a:bodyPr wrap="none" lIns="0" tIns="0" rIns="0" bIns="0" rtlCol="0" anchor="t"/>
          <a:lstStyle/>
          <a:p>
            <a:pPr algn="l" indent="0" marL="0">
              <a:lnSpc>
                <a:spcPts val="5100"/>
              </a:lnSpc>
              <a:buNone/>
            </a:pPr>
            <a:r>
              <a:rPr lang="en-US" sz="4050" b="1" dirty="0">
                <a:solidFill>
                  <a:srgbClr val="282824"/>
                </a:solidFill>
                <a:latin typeface="Lato Bold" pitchFamily="34" charset="0"/>
                <a:ea typeface="Lato Bold" pitchFamily="34" charset="-122"/>
                <a:cs typeface="Lato Bold" pitchFamily="34" charset="-120"/>
              </a:rPr>
              <a:t>Conclusion &amp; Roadmap</a:t>
            </a:r>
            <a:endParaRPr lang="en-US" sz="4050" dirty="0"/>
          </a:p>
        </p:txBody>
      </p:sp>
      <p:sp>
        <p:nvSpPr>
          <p:cNvPr id="7" name="Text 5"/>
          <p:cNvSpPr/>
          <p:nvPr/>
        </p:nvSpPr>
        <p:spPr>
          <a:xfrm>
            <a:off x="728424" y="2153483"/>
            <a:ext cx="13173551" cy="319207"/>
          </a:xfrm>
          <a:prstGeom prst="rect">
            <a:avLst/>
          </a:prstGeom>
          <a:noFill/>
          <a:ln/>
        </p:spPr>
        <p:txBody>
          <a:bodyPr wrap="none" lIns="0" tIns="0" rIns="0" bIns="0" rtlCol="0" anchor="t"/>
          <a:lstStyle/>
          <a:p>
            <a:pPr algn="l" indent="0" marL="0">
              <a:lnSpc>
                <a:spcPts val="2500"/>
              </a:lnSpc>
              <a:buNone/>
            </a:pPr>
            <a:r>
              <a:rPr lang="en-US" sz="1600" b="1" dirty="0">
                <a:solidFill>
                  <a:srgbClr val="4A4A45"/>
                </a:solidFill>
                <a:latin typeface="Lato" pitchFamily="34" charset="0"/>
                <a:ea typeface="Lato" pitchFamily="34" charset="-122"/>
                <a:cs typeface="Lato" pitchFamily="34" charset="-120"/>
              </a:rPr>
              <a:t>LexScan — Built to protect people before they sign.</a:t>
            </a:r>
            <a:endParaRPr lang="en-US" sz="1600" dirty="0"/>
          </a:p>
        </p:txBody>
      </p:sp>
      <p:sp>
        <p:nvSpPr>
          <p:cNvPr id="8" name="Shape 6"/>
          <p:cNvSpPr/>
          <p:nvPr/>
        </p:nvSpPr>
        <p:spPr>
          <a:xfrm>
            <a:off x="578644" y="2687479"/>
            <a:ext cx="6495574" cy="1559004"/>
          </a:xfrm>
          <a:prstGeom prst="roundRect">
            <a:avLst>
              <a:gd name="adj" fmla="val 2003"/>
            </a:avLst>
          </a:prstGeom>
          <a:solidFill>
            <a:srgbClr val="1D1F22"/>
          </a:solidFill>
          <a:ln/>
        </p:spPr>
      </p:sp>
      <p:sp>
        <p:nvSpPr>
          <p:cNvPr id="9" name="Text 7"/>
          <p:cNvSpPr/>
          <p:nvPr/>
        </p:nvSpPr>
        <p:spPr>
          <a:xfrm>
            <a:off x="1098947" y="2902268"/>
            <a:ext cx="5767149" cy="638413"/>
          </a:xfrm>
          <a:prstGeom prst="rect">
            <a:avLst/>
          </a:prstGeom>
          <a:noFill/>
          <a:ln/>
        </p:spPr>
        <p:txBody>
          <a:bodyPr wrap="square" lIns="0" tIns="0" rIns="0" bIns="0" rtlCol="0" anchor="t"/>
          <a:lstStyle/>
          <a:p>
            <a:pPr algn="l" indent="0" marL="0">
              <a:lnSpc>
                <a:spcPts val="2500"/>
              </a:lnSpc>
              <a:buNone/>
            </a:pPr>
            <a:r>
              <a:rPr lang="en-US" sz="1600" dirty="0">
                <a:solidFill>
                  <a:srgbClr val="FFFFFF"/>
                </a:solidFill>
                <a:latin typeface="Lato" pitchFamily="34" charset="0"/>
                <a:ea typeface="Lato" pitchFamily="34" charset="-122"/>
                <a:cs typeface="Lato" pitchFamily="34" charset="-120"/>
              </a:rPr>
              <a:t>"LexScan gives everyone access to the kind of contract intelligence that used to require a lawyer."</a:t>
            </a:r>
            <a:endParaRPr lang="en-US" sz="1600" dirty="0"/>
          </a:p>
        </p:txBody>
      </p:sp>
      <p:sp>
        <p:nvSpPr>
          <p:cNvPr id="10" name="Shape 8"/>
          <p:cNvSpPr/>
          <p:nvPr/>
        </p:nvSpPr>
        <p:spPr>
          <a:xfrm>
            <a:off x="786765" y="2902268"/>
            <a:ext cx="22860" cy="638413"/>
          </a:xfrm>
          <a:prstGeom prst="rect">
            <a:avLst/>
          </a:prstGeom>
          <a:solidFill>
            <a:srgbClr val="282824"/>
          </a:solidFill>
          <a:ln/>
        </p:spPr>
      </p:sp>
      <p:sp>
        <p:nvSpPr>
          <p:cNvPr id="11" name="Text 9"/>
          <p:cNvSpPr/>
          <p:nvPr/>
        </p:nvSpPr>
        <p:spPr>
          <a:xfrm>
            <a:off x="786765" y="3755469"/>
            <a:ext cx="6079331" cy="319207"/>
          </a:xfrm>
          <a:prstGeom prst="rect">
            <a:avLst/>
          </a:prstGeom>
          <a:noFill/>
          <a:ln/>
        </p:spPr>
        <p:txBody>
          <a:bodyPr wrap="none" lIns="0" tIns="0" rIns="0" bIns="0" rtlCol="0" anchor="t"/>
          <a:lstStyle/>
          <a:p>
            <a:pPr algn="l" indent="0" marL="0">
              <a:lnSpc>
                <a:spcPts val="2500"/>
              </a:lnSpc>
              <a:buNone/>
            </a:pPr>
            <a:r>
              <a:rPr lang="en-US" sz="1600" dirty="0">
                <a:solidFill>
                  <a:srgbClr val="FFFFFF"/>
                </a:solidFill>
                <a:latin typeface="Lato" pitchFamily="34" charset="0"/>
                <a:ea typeface="Lato" pitchFamily="34" charset="-122"/>
                <a:cs typeface="Lato" pitchFamily="34" charset="-120"/>
              </a:rPr>
              <a:t>Live Demo: </a:t>
            </a:r>
            <a:pPr algn="l" indent="0" marL="0">
              <a:lnSpc>
                <a:spcPts val="2500"/>
              </a:lnSpc>
              <a:buNone/>
            </a:pPr>
            <a:r>
              <a:rPr lang="en-US" sz="1600" u="sng" dirty="0">
                <a:solidFill>
                  <a:srgbClr val="9E9E94"/>
                </a:solidFill>
                <a:latin typeface="Lato" pitchFamily="34" charset="0"/>
                <a:ea typeface="Lato" pitchFamily="34" charset="-122"/>
                <a:cs typeface="La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https://ai-contract-risk-highlighter.vercel.app/</a:t>
            </a:r>
            <a:endParaRPr lang="en-US" sz="1600" dirty="0"/>
          </a:p>
        </p:txBody>
      </p:sp>
      <p:sp>
        <p:nvSpPr>
          <p:cNvPr id="12" name="Text 10"/>
          <p:cNvSpPr/>
          <p:nvPr/>
        </p:nvSpPr>
        <p:spPr>
          <a:xfrm>
            <a:off x="7439739" y="2859286"/>
            <a:ext cx="6469737" cy="319207"/>
          </a:xfrm>
          <a:prstGeom prst="rect">
            <a:avLst/>
          </a:prstGeom>
          <a:noFill/>
          <a:ln/>
        </p:spPr>
        <p:txBody>
          <a:bodyPr wrap="none" lIns="0" tIns="0" rIns="0" bIns="0" rtlCol="0" anchor="t"/>
          <a:lstStyle/>
          <a:p>
            <a:pPr algn="l" indent="0" marL="0">
              <a:lnSpc>
                <a:spcPts val="2500"/>
              </a:lnSpc>
              <a:buNone/>
            </a:pPr>
            <a:endParaRPr lang="en-US" sz="1600" dirty="0"/>
          </a:p>
        </p:txBody>
      </p:sp>
      <p:sp>
        <p:nvSpPr>
          <p:cNvPr id="13" name="Text 11"/>
          <p:cNvSpPr/>
          <p:nvPr/>
        </p:nvSpPr>
        <p:spPr>
          <a:xfrm>
            <a:off x="728424" y="4652248"/>
            <a:ext cx="2601635" cy="325160"/>
          </a:xfrm>
          <a:prstGeom prst="rect">
            <a:avLst/>
          </a:prstGeom>
          <a:noFill/>
          <a:ln/>
        </p:spPr>
        <p:txBody>
          <a:bodyPr wrap="none" lIns="0" tIns="0" rIns="0" bIns="0" rtlCol="0" anchor="t"/>
          <a:lstStyle/>
          <a:p>
            <a:pPr algn="l" indent="0" marL="0">
              <a:lnSpc>
                <a:spcPts val="2550"/>
              </a:lnSpc>
              <a:buNone/>
            </a:pPr>
            <a:r>
              <a:rPr lang="en-US" sz="2000" b="1" dirty="0">
                <a:solidFill>
                  <a:srgbClr val="282824"/>
                </a:solidFill>
                <a:latin typeface="Lato Bold" pitchFamily="34" charset="0"/>
                <a:ea typeface="Lato Bold" pitchFamily="34" charset="-122"/>
                <a:cs typeface="Lato Bold" pitchFamily="34" charset="-120"/>
              </a:rPr>
              <a:t>Current Capabilities</a:t>
            </a:r>
            <a:endParaRPr lang="en-US" sz="2000" dirty="0"/>
          </a:p>
        </p:txBody>
      </p:sp>
      <p:sp>
        <p:nvSpPr>
          <p:cNvPr id="14" name="Text 12"/>
          <p:cNvSpPr/>
          <p:nvPr/>
        </p:nvSpPr>
        <p:spPr>
          <a:xfrm>
            <a:off x="728424" y="5168384"/>
            <a:ext cx="6332934" cy="1477208"/>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Full-stack production app deployed on Vercel</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Streaming AI analysis with structured risk intelligence</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OCR, multi-format parsing, cloud auth, mobile-ready</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PDF report export</a:t>
            </a:r>
            <a:endParaRPr lang="en-US" sz="1600" dirty="0"/>
          </a:p>
        </p:txBody>
      </p:sp>
      <p:sp>
        <p:nvSpPr>
          <p:cNvPr id="15" name="Text 13"/>
          <p:cNvSpPr/>
          <p:nvPr/>
        </p:nvSpPr>
        <p:spPr>
          <a:xfrm>
            <a:off x="7576661" y="4652248"/>
            <a:ext cx="2601635" cy="325160"/>
          </a:xfrm>
          <a:prstGeom prst="rect">
            <a:avLst/>
          </a:prstGeom>
          <a:noFill/>
          <a:ln/>
        </p:spPr>
        <p:txBody>
          <a:bodyPr wrap="none" lIns="0" tIns="0" rIns="0" bIns="0" rtlCol="0" anchor="t"/>
          <a:lstStyle/>
          <a:p>
            <a:pPr algn="l" indent="0" marL="0">
              <a:lnSpc>
                <a:spcPts val="2550"/>
              </a:lnSpc>
              <a:buNone/>
            </a:pPr>
            <a:r>
              <a:rPr lang="en-US" sz="2000" b="1" dirty="0">
                <a:solidFill>
                  <a:srgbClr val="282824"/>
                </a:solidFill>
                <a:latin typeface="Lato Bold" pitchFamily="34" charset="0"/>
                <a:ea typeface="Lato Bold" pitchFamily="34" charset="-122"/>
                <a:cs typeface="Lato Bold" pitchFamily="34" charset="-120"/>
              </a:rPr>
              <a:t>Future Roadmap</a:t>
            </a:r>
            <a:endParaRPr lang="en-US" sz="2000" dirty="0"/>
          </a:p>
        </p:txBody>
      </p:sp>
      <p:sp>
        <p:nvSpPr>
          <p:cNvPr id="16" name="Text 14"/>
          <p:cNvSpPr/>
          <p:nvPr/>
        </p:nvSpPr>
        <p:spPr>
          <a:xfrm>
            <a:off x="7576661" y="5168384"/>
            <a:ext cx="6332934" cy="2249210"/>
          </a:xfrm>
          <a:prstGeom prst="rect">
            <a:avLst/>
          </a:prstGeom>
          <a:noFill/>
          <a:ln/>
        </p:spPr>
        <p:txBody>
          <a:bodyPr wrap="square" lIns="0" tIns="0" rIns="0" bIns="0" rtlCol="0" anchor="t"/>
          <a:lstStyle/>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Multi-page PDF and multi-contract comparison</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Jurisdiction-aware analysis (US, UK, India, EU)</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Clause library with pre-approved alternatives</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Team collaboration and shared history</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API access for enterprise integrations</a:t>
            </a:r>
            <a:endParaRPr lang="en-US" sz="1600" dirty="0"/>
          </a:p>
          <a:p>
            <a:pPr algn="l" marL="342900" indent="-342900">
              <a:lnSpc>
                <a:spcPts val="2500"/>
              </a:lnSpc>
              <a:buSzPct val="100000"/>
              <a:buChar char="•"/>
            </a:pPr>
            <a:r>
              <a:rPr lang="en-US" sz="1600" dirty="0">
                <a:solidFill>
                  <a:srgbClr val="4A4A45"/>
                </a:solidFill>
                <a:latin typeface="Lato" pitchFamily="34" charset="0"/>
                <a:ea typeface="Lato" pitchFamily="34" charset="-122"/>
                <a:cs typeface="Lato" pitchFamily="34" charset="-120"/>
              </a:rPr>
              <a:t>Browser extension for in-page contract analysis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2026-03-24T07:11:20Z</dcterms:created>
  <dcterms:modified xsi:type="dcterms:W3CDTF">2026-03-24T07:11:20Z</dcterms:modified>
</cp:coreProperties>
</file>